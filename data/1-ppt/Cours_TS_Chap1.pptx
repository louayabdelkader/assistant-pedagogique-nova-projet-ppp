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6"/>
  </p:notesMasterIdLst>
  <p:handoutMasterIdLst>
    <p:handoutMasterId r:id="rId49"/>
  </p:handoutMasterIdLst>
  <p:sldIdLst>
    <p:sldId id="271" r:id="rId4"/>
    <p:sldId id="328" r:id="rId5"/>
    <p:sldId id="329" r:id="rId7"/>
    <p:sldId id="788" r:id="rId8"/>
    <p:sldId id="734" r:id="rId9"/>
    <p:sldId id="779" r:id="rId10"/>
    <p:sldId id="332" r:id="rId11"/>
    <p:sldId id="333" r:id="rId12"/>
    <p:sldId id="534" r:id="rId13"/>
    <p:sldId id="402" r:id="rId14"/>
    <p:sldId id="309" r:id="rId15"/>
    <p:sldId id="334" r:id="rId16"/>
    <p:sldId id="403" r:id="rId17"/>
    <p:sldId id="538" r:id="rId18"/>
    <p:sldId id="415" r:id="rId19"/>
    <p:sldId id="416" r:id="rId20"/>
    <p:sldId id="414" r:id="rId21"/>
    <p:sldId id="417" r:id="rId22"/>
    <p:sldId id="537" r:id="rId23"/>
    <p:sldId id="539" r:id="rId24"/>
    <p:sldId id="735" r:id="rId25"/>
    <p:sldId id="264" r:id="rId26"/>
    <p:sldId id="300" r:id="rId27"/>
    <p:sldId id="540" r:id="rId28"/>
    <p:sldId id="781" r:id="rId29"/>
    <p:sldId id="782" r:id="rId30"/>
    <p:sldId id="784" r:id="rId31"/>
    <p:sldId id="783" r:id="rId32"/>
    <p:sldId id="337" r:id="rId33"/>
    <p:sldId id="411" r:id="rId34"/>
    <p:sldId id="409" r:id="rId35"/>
    <p:sldId id="410" r:id="rId36"/>
    <p:sldId id="666" r:id="rId37"/>
    <p:sldId id="406" r:id="rId38"/>
    <p:sldId id="665" r:id="rId39"/>
    <p:sldId id="340" r:id="rId40"/>
    <p:sldId id="790" r:id="rId41"/>
    <p:sldId id="778" r:id="rId42"/>
    <p:sldId id="791" r:id="rId43"/>
    <p:sldId id="785" r:id="rId44"/>
    <p:sldId id="786" r:id="rId45"/>
    <p:sldId id="787" r:id="rId46"/>
    <p:sldId id="544" r:id="rId47"/>
    <p:sldId id="545" r:id="rId48"/>
  </p:sldIdLst>
  <p:sldSz cx="9144000" cy="6858000" type="screen4x3"/>
  <p:notesSz cx="7099300" cy="1023429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099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24CAC"/>
    <a:srgbClr val="505ABC"/>
    <a:srgbClr val="00A249"/>
    <a:srgbClr val="FF3300"/>
    <a:srgbClr val="343C88"/>
    <a:srgbClr val="FF0000"/>
    <a:srgbClr val="FC9804"/>
    <a:srgbClr val="CC0099"/>
    <a:srgbClr val="EDE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82330" autoAdjust="0"/>
  </p:normalViewPr>
  <p:slideViewPr>
    <p:cSldViewPr showGuides="1">
      <p:cViewPr varScale="1">
        <p:scale>
          <a:sx n="70" d="100"/>
          <a:sy n="70" d="100"/>
        </p:scale>
        <p:origin x="1805" y="53"/>
      </p:cViewPr>
      <p:guideLst>
        <p:guide orient="horz" pos="2099"/>
        <p:guide pos="288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handoutMaster" Target="handoutMasters/handoutMaster1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672" cy="5127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088" y="0"/>
            <a:ext cx="3076672" cy="5127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721869"/>
            <a:ext cx="3076672" cy="512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088" y="9721869"/>
            <a:ext cx="3076672" cy="512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4FB16-1D46-486F-9983-A0F1EA4E7350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40" y="4861782"/>
            <a:ext cx="5678824" cy="46045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/>
          <a:p>
            <a:pPr lvl="0"/>
            <a:r>
              <a:rPr lang="fr-FR" noProof="0"/>
              <a:t>Cliquez pour modifier les styles du texte du masque</a:t>
            </a:r>
            <a:endParaRPr lang="fr-FR" noProof="0"/>
          </a:p>
          <a:p>
            <a:pPr lvl="1"/>
            <a:r>
              <a:rPr lang="fr-FR" noProof="0"/>
              <a:t>Deuxième niveau</a:t>
            </a:r>
            <a:endParaRPr lang="fr-FR" noProof="0"/>
          </a:p>
          <a:p>
            <a:pPr lvl="2"/>
            <a:r>
              <a:rPr lang="fr-FR" noProof="0"/>
              <a:t>Troisième niveau</a:t>
            </a:r>
            <a:endParaRPr lang="fr-FR" noProof="0"/>
          </a:p>
          <a:p>
            <a:pPr lvl="3"/>
            <a:r>
              <a:rPr lang="fr-FR" noProof="0"/>
              <a:t>Quatrième niveau</a:t>
            </a:r>
            <a:endParaRPr lang="fr-FR" noProof="0"/>
          </a:p>
          <a:p>
            <a:pPr lvl="4"/>
            <a:r>
              <a:rPr lang="fr-FR" noProof="0"/>
              <a:t>Cinquième niveau</a:t>
            </a:r>
            <a:endParaRPr lang="fr-FR" noProof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>
              <a:defRPr sz="13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65EE4EA-C85E-4BFB-A0CA-9F41B6562BAE}" type="slidenum">
              <a:rPr lang="fr-FR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7CB817C9-8F60-4759-B523-5257BEDAFC6C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08BDAD84-A966-424A-99FC-1473E07DE564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6E96DEE3-C705-414B-80C1-E024ABBF2B9F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11188" y="1196975"/>
            <a:ext cx="3919537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83125" y="1196975"/>
            <a:ext cx="3921125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538B0F04-5C63-4349-B6D1-FEC80E29A388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E48CDB91-0A10-488F-B840-23BC0A9CDE2F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5966D6DC-AA41-41EE-8936-69D05556F547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51E856A0-F509-4A5C-901E-CA1A93E18DA3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6023D09C-2324-4B66-9B99-5A161C6B1ADD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C9AF9104-23A6-4359-B644-282ACA0CD6BD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AA25721E-9BC8-44B0-9CB1-DA16C1F975D0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40513" y="188913"/>
            <a:ext cx="2057400" cy="6081712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68313" y="188913"/>
            <a:ext cx="6019800" cy="608171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DCE7D99E-5044-4553-9770-F6DFB78C7AD5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68313" y="188913"/>
            <a:ext cx="8229600" cy="719137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 hasCustomPrompt="1"/>
          </p:nvPr>
        </p:nvSpPr>
        <p:spPr>
          <a:xfrm>
            <a:off x="611188" y="1196975"/>
            <a:ext cx="3919537" cy="5073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83125" y="1196975"/>
            <a:ext cx="3921125" cy="5073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13DC86F6-FF12-4163-9725-853D7DE7119A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68313" y="188913"/>
            <a:ext cx="8229600" cy="719137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 hasCustomPrompt="1"/>
          </p:nvPr>
        </p:nvSpPr>
        <p:spPr>
          <a:xfrm>
            <a:off x="611188" y="1196975"/>
            <a:ext cx="3919537" cy="5073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 hasCustomPrompt="1"/>
          </p:nvPr>
        </p:nvSpPr>
        <p:spPr>
          <a:xfrm>
            <a:off x="4683125" y="1196975"/>
            <a:ext cx="3921125" cy="24606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 hasCustomPrompt="1"/>
          </p:nvPr>
        </p:nvSpPr>
        <p:spPr>
          <a:xfrm>
            <a:off x="4683125" y="3810000"/>
            <a:ext cx="3921125" cy="24606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F4B697E3-4789-4F0C-921E-AD82779A1BF3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7A36E-500E-440D-928D-54718C37283F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A3B70-B14A-436E-A25A-DC920D000FB6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C9B89-E718-4689-8B6C-3FE887FC8C50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356FA-73D1-4110-874D-58500705B62D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2C973-2818-4C75-872B-96927084F38C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2BE87-67C1-457C-B1E9-BA05F2AA7478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2107A-443F-4D54-8CC5-B08CBA3AAF13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0889F-B378-4E58-8347-0850BE086871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46E5CE-5A90-44F0-902B-A32F3DAC45F4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C9125-A11A-42C1-B0F1-A8F38AE32D25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9B66E-2000-477F-A909-97254E0E2AAF}" type="slidenum">
              <a:rPr lang="fr-FR"/>
            </a:fld>
            <a:endParaRPr lang="fr-F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68313" y="188913"/>
            <a:ext cx="8229600" cy="719137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 hasCustomPrompt="1"/>
          </p:nvPr>
        </p:nvSpPr>
        <p:spPr>
          <a:xfrm>
            <a:off x="611188" y="1196975"/>
            <a:ext cx="3919537" cy="5073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83125" y="1196975"/>
            <a:ext cx="3921125" cy="5073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13DC86F6-FF12-4163-9725-853D7DE7119A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68313" y="188913"/>
            <a:ext cx="8229600" cy="719137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 hasCustomPrompt="1"/>
          </p:nvPr>
        </p:nvSpPr>
        <p:spPr>
          <a:xfrm>
            <a:off x="611188" y="1196975"/>
            <a:ext cx="3919537" cy="5073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 hasCustomPrompt="1"/>
          </p:nvPr>
        </p:nvSpPr>
        <p:spPr>
          <a:xfrm>
            <a:off x="4683125" y="1196975"/>
            <a:ext cx="3921125" cy="24606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 hasCustomPrompt="1"/>
          </p:nvPr>
        </p:nvSpPr>
        <p:spPr>
          <a:xfrm>
            <a:off x="4683125" y="3810000"/>
            <a:ext cx="3921125" cy="24606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F4B697E3-4789-4F0C-921E-AD82779A1BF3}" type="slidenum">
              <a:rPr lang="fr-FR"/>
            </a:fld>
            <a:r>
              <a:rPr lang="fr-FR"/>
              <a:t>/49</a:t>
            </a:r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pn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88913"/>
            <a:ext cx="8229600" cy="7191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fr-FR"/>
              <a:t>Bibliographie</a:t>
            </a:r>
            <a:endParaRPr lang="fr-FR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7993062" cy="5073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fr-FR"/>
              <a:t>Définitions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43438" y="6381750"/>
            <a:ext cx="4043362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fr-FR"/>
              <a:t>Cours Traitement du Signal, 2010 – p. </a:t>
            </a:r>
            <a:fld id="{E1ADF893-134E-4535-BF61-452246B809C9}" type="slidenum">
              <a:rPr lang="fr-FR"/>
            </a:fld>
            <a:r>
              <a:rPr lang="fr-FR"/>
              <a:t>/49</a:t>
            </a:r>
            <a:endParaRPr lang="fr-FR"/>
          </a:p>
        </p:txBody>
      </p:sp>
      <p:grpSp>
        <p:nvGrpSpPr>
          <p:cNvPr id="10247" name="Group 7"/>
          <p:cNvGrpSpPr/>
          <p:nvPr userDrawn="1"/>
        </p:nvGrpSpPr>
        <p:grpSpPr bwMode="auto">
          <a:xfrm>
            <a:off x="468313" y="908050"/>
            <a:ext cx="431800" cy="431800"/>
            <a:chOff x="476" y="2659"/>
            <a:chExt cx="409" cy="409"/>
          </a:xfrm>
        </p:grpSpPr>
        <p:sp>
          <p:nvSpPr>
            <p:cNvPr id="1032" name="Line 8"/>
            <p:cNvSpPr>
              <a:spLocks noChangeShapeType="1"/>
            </p:cNvSpPr>
            <p:nvPr/>
          </p:nvSpPr>
          <p:spPr bwMode="auto">
            <a:xfrm flipV="1">
              <a:off x="476" y="2659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33" name="Line 9"/>
            <p:cNvSpPr>
              <a:spLocks noChangeShapeType="1"/>
            </p:cNvSpPr>
            <p:nvPr/>
          </p:nvSpPr>
          <p:spPr bwMode="auto">
            <a:xfrm>
              <a:off x="476" y="2659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0248" name="Group 10"/>
          <p:cNvGrpSpPr/>
          <p:nvPr userDrawn="1"/>
        </p:nvGrpSpPr>
        <p:grpSpPr bwMode="auto">
          <a:xfrm>
            <a:off x="468313" y="5949950"/>
            <a:ext cx="431800" cy="431800"/>
            <a:chOff x="2018" y="1842"/>
            <a:chExt cx="408" cy="409"/>
          </a:xfrm>
        </p:grpSpPr>
        <p:sp>
          <p:nvSpPr>
            <p:cNvPr id="1035" name="Line 11"/>
            <p:cNvSpPr>
              <a:spLocks noChangeShapeType="1"/>
            </p:cNvSpPr>
            <p:nvPr/>
          </p:nvSpPr>
          <p:spPr bwMode="auto">
            <a:xfrm>
              <a:off x="2018" y="2251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36" name="Line 12"/>
            <p:cNvSpPr>
              <a:spLocks noChangeShapeType="1"/>
            </p:cNvSpPr>
            <p:nvPr/>
          </p:nvSpPr>
          <p:spPr bwMode="auto">
            <a:xfrm flipV="1">
              <a:off x="2018" y="1842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0249" name="Group 13"/>
          <p:cNvGrpSpPr/>
          <p:nvPr userDrawn="1"/>
        </p:nvGrpSpPr>
        <p:grpSpPr bwMode="auto">
          <a:xfrm>
            <a:off x="8243888" y="908050"/>
            <a:ext cx="431800" cy="431800"/>
            <a:chOff x="2018" y="1842"/>
            <a:chExt cx="408" cy="409"/>
          </a:xfrm>
        </p:grpSpPr>
        <p:sp>
          <p:nvSpPr>
            <p:cNvPr id="1038" name="Line 14"/>
            <p:cNvSpPr>
              <a:spLocks noChangeShapeType="1"/>
            </p:cNvSpPr>
            <p:nvPr/>
          </p:nvSpPr>
          <p:spPr bwMode="auto">
            <a:xfrm>
              <a:off x="2018" y="184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39" name="Line 15"/>
            <p:cNvSpPr>
              <a:spLocks noChangeShapeType="1"/>
            </p:cNvSpPr>
            <p:nvPr/>
          </p:nvSpPr>
          <p:spPr bwMode="auto">
            <a:xfrm>
              <a:off x="2426" y="1842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0250" name="Group 16"/>
          <p:cNvGrpSpPr/>
          <p:nvPr userDrawn="1"/>
        </p:nvGrpSpPr>
        <p:grpSpPr bwMode="auto">
          <a:xfrm>
            <a:off x="8243888" y="5949950"/>
            <a:ext cx="431800" cy="431800"/>
            <a:chOff x="2018" y="1842"/>
            <a:chExt cx="408" cy="409"/>
          </a:xfrm>
        </p:grpSpPr>
        <p:sp>
          <p:nvSpPr>
            <p:cNvPr id="1041" name="Line 17"/>
            <p:cNvSpPr>
              <a:spLocks noChangeShapeType="1"/>
            </p:cNvSpPr>
            <p:nvPr/>
          </p:nvSpPr>
          <p:spPr bwMode="auto">
            <a:xfrm>
              <a:off x="2426" y="1842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42" name="Line 18"/>
            <p:cNvSpPr>
              <a:spLocks noChangeShapeType="1"/>
            </p:cNvSpPr>
            <p:nvPr/>
          </p:nvSpPr>
          <p:spPr bwMode="auto">
            <a:xfrm flipH="1">
              <a:off x="2018" y="2251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fr-FR">
                <a:ea typeface="+mn-ea"/>
                <a:cs typeface="Arial" panose="020B06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Lucida Bright" panose="02040602050505020304" pitchFamily="18" charset="0"/>
          <a:ea typeface="BatangChe" pitchFamily="49" charset="-127"/>
          <a:cs typeface="Lucida Sans Unicode" panose="020B0602030504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155000"/>
        <a:buFont typeface="Wingdings" panose="05000000000000000000" pitchFamily="2" charset="2"/>
        <a:buBlip>
          <a:blip r:embed="rId14"/>
        </a:buBlip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30000"/>
        <a:buFont typeface="Wingdings" panose="05000000000000000000" pitchFamily="2" charset="2"/>
        <a:buBlip>
          <a:blip r:embed="rId15"/>
        </a:buBlip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86EF669-981F-44AE-A971-01F55E1F6B92}" type="slidenum">
              <a:rPr lang="fr-FR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5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6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7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fr-FR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fr-FR" sz="3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fr-FR" sz="3400" dirty="0"/>
              <a:t>				</a:t>
            </a:r>
            <a:r>
              <a:rPr lang="fr-FR" sz="3400" dirty="0">
                <a:solidFill>
                  <a:srgbClr val="FF0000"/>
                </a:solidFill>
              </a:rPr>
              <a:t>   Chapitre 1</a:t>
            </a:r>
            <a:endParaRPr lang="fr-FR" sz="3400" dirty="0">
              <a:solidFill>
                <a:srgbClr val="FF0000"/>
              </a:solidFill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fr-FR" sz="3600" dirty="0">
                <a:solidFill>
                  <a:srgbClr val="FF0000"/>
                </a:solidFill>
              </a:rPr>
              <a:t>Représentation temporelle des signaux</a:t>
            </a:r>
            <a:endParaRPr lang="fr-FR" sz="3600" dirty="0">
              <a:solidFill>
                <a:srgbClr val="FF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6648"/>
            <a:ext cx="8229600" cy="1143000"/>
          </a:xfrm>
        </p:spPr>
        <p:txBody>
          <a:bodyPr>
            <a:normAutofit/>
          </a:bodyPr>
          <a:lstStyle/>
          <a:p>
            <a:r>
              <a:rPr lang="fr-FR" sz="3600" dirty="0">
                <a:solidFill>
                  <a:srgbClr val="505ABC"/>
                </a:solidFill>
                <a:cs typeface="Arial" panose="020B0604020202020204" pitchFamily="34" charset="0"/>
              </a:rPr>
              <a:t>Les différentes classes de signaux</a:t>
            </a:r>
            <a:endParaRPr lang="fr-FR" sz="3600" dirty="0">
              <a:solidFill>
                <a:srgbClr val="505ABC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1560" y="1700808"/>
            <a:ext cx="7488832" cy="340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>
                <a:solidFill>
                  <a:srgbClr val="FF0000"/>
                </a:solidFill>
                <a:cs typeface="Arial" panose="020B0604020202020204" pitchFamily="34" charset="0"/>
              </a:rPr>
              <a:t>Différents critères de classification :</a:t>
            </a:r>
            <a:endParaRPr lang="fr-FR" sz="2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endParaRPr lang="fr-FR" sz="2200" dirty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marL="890905"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cs typeface="Arial" panose="020B0604020202020204" pitchFamily="34" charset="0"/>
              </a:rPr>
              <a:t>  Nombre de variables ;</a:t>
            </a:r>
            <a:endParaRPr lang="fr-FR" sz="2200" dirty="0">
              <a:cs typeface="Arial" panose="020B0604020202020204" pitchFamily="34" charset="0"/>
            </a:endParaRPr>
          </a:p>
          <a:p>
            <a:pPr marL="890905"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cs typeface="Arial" panose="020B0604020202020204" pitchFamily="34" charset="0"/>
              </a:rPr>
              <a:t>  Signaux réels / complexes ;</a:t>
            </a:r>
            <a:endParaRPr lang="fr-FR" sz="2200" dirty="0">
              <a:cs typeface="Arial" panose="020B0604020202020204" pitchFamily="34" charset="0"/>
            </a:endParaRPr>
          </a:p>
          <a:p>
            <a:pPr marL="890905"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cs typeface="Arial" panose="020B0604020202020204" pitchFamily="34" charset="0"/>
              </a:rPr>
              <a:t>  Déterministes / aléatoires ;</a:t>
            </a:r>
            <a:endParaRPr lang="fr-FR" sz="2200" dirty="0">
              <a:cs typeface="Arial" panose="020B0604020202020204" pitchFamily="34" charset="0"/>
            </a:endParaRPr>
          </a:p>
          <a:p>
            <a:pPr marL="890905"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cs typeface="Arial" panose="020B0604020202020204" pitchFamily="34" charset="0"/>
              </a:rPr>
              <a:t>  Continus / discrets ;</a:t>
            </a:r>
            <a:endParaRPr lang="fr-FR" sz="2200" dirty="0">
              <a:cs typeface="Arial" panose="020B0604020202020204" pitchFamily="34" charset="0"/>
            </a:endParaRPr>
          </a:p>
          <a:p>
            <a:pPr marL="890905"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cs typeface="Arial" panose="020B0604020202020204" pitchFamily="34" charset="0"/>
              </a:rPr>
              <a:t>  Classification énergétique</a:t>
            </a:r>
            <a:r>
              <a:rPr lang="fr-FR" sz="2600" dirty="0">
                <a:latin typeface="+mn-lt"/>
              </a:rPr>
              <a:t>. </a:t>
            </a:r>
            <a:endParaRPr lang="fr-FR" sz="2600" dirty="0"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4360" y="27856"/>
            <a:ext cx="843528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 Classification en fonction du nombre de variables 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5576" y="4207183"/>
            <a:ext cx="2232248" cy="2340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3349" y="4492306"/>
            <a:ext cx="2232248" cy="1694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85816" y="4467761"/>
            <a:ext cx="1772368" cy="177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755576" y="1326187"/>
          <a:ext cx="7632847" cy="2822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1335"/>
                <a:gridCol w="1908212"/>
                <a:gridCol w="2703300"/>
              </a:tblGrid>
              <a:tr h="646639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Exemple de signal</a:t>
                      </a:r>
                      <a:endParaRPr lang="fr-F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8000">
                    <a:solidFill>
                      <a:srgbClr val="EDE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N. Variable</a:t>
                      </a:r>
                      <a:r>
                        <a:rPr lang="fr-FR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(s)</a:t>
                      </a:r>
                      <a:endParaRPr lang="fr-F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8000">
                    <a:solidFill>
                      <a:srgbClr val="EDE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 de signal</a:t>
                      </a:r>
                      <a:endParaRPr lang="fr-FR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8000">
                    <a:solidFill>
                      <a:srgbClr val="EDECFE"/>
                    </a:solidFill>
                  </a:tcPr>
                </a:tc>
              </a:tr>
              <a:tr h="374640"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Tension électrique</a:t>
                      </a:r>
                      <a:r>
                        <a:rPr lang="fr-FR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V(t)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8000" anchor="ctr">
                    <a:solidFill>
                      <a:srgbClr val="EDE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0" anchor="ctr">
                    <a:solidFill>
                      <a:srgbClr val="EDE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monodimensionnel</a:t>
                      </a:r>
                      <a:endParaRPr lang="fr-FR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8000">
                    <a:solidFill>
                      <a:srgbClr val="EDECFE"/>
                    </a:solidFill>
                  </a:tcPr>
                </a:tc>
              </a:tr>
              <a:tr h="374640"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 f(</a:t>
                      </a:r>
                      <a:r>
                        <a:rPr lang="fr-FR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x,y</a:t>
                      </a: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8000">
                    <a:solidFill>
                      <a:srgbClr val="EDE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0">
                    <a:solidFill>
                      <a:srgbClr val="EDE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bidimensionnel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8000">
                    <a:solidFill>
                      <a:srgbClr val="EDECFE"/>
                    </a:solidFill>
                  </a:tcPr>
                </a:tc>
              </a:tr>
              <a:tr h="374640"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Vidéo</a:t>
                      </a:r>
                      <a:r>
                        <a:rPr lang="fr-FR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I(</a:t>
                      </a:r>
                      <a:r>
                        <a:rPr lang="fr-FR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x,y,t</a:t>
                      </a:r>
                      <a:r>
                        <a:rPr lang="fr-FR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8000">
                    <a:solidFill>
                      <a:srgbClr val="EDE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0">
                    <a:solidFill>
                      <a:srgbClr val="EDE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tridimensionnel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8000">
                    <a:solidFill>
                      <a:srgbClr val="EDECFE"/>
                    </a:solidFill>
                  </a:tcPr>
                </a:tc>
              </a:tr>
              <a:tr h="6774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ts val="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800"/>
                        </a:lnSpc>
                      </a:pP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0">
                    <a:solidFill>
                      <a:srgbClr val="EDE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800"/>
                        </a:lnSpc>
                      </a:pP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800"/>
                        </a:lnSpc>
                      </a:pP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0">
                    <a:solidFill>
                      <a:srgbClr val="EDE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800"/>
                        </a:lnSpc>
                      </a:pP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ts val="800"/>
                        </a:lnSpc>
                      </a:pP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0">
                    <a:solidFill>
                      <a:srgbClr val="EDECFE"/>
                    </a:solidFill>
                  </a:tcPr>
                </a:tc>
              </a:tr>
              <a:tr h="374640"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Onde </a:t>
                      </a:r>
                      <a:r>
                        <a:rPr lang="fr-FR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e.m</a:t>
                      </a: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u(</a:t>
                      </a:r>
                      <a:r>
                        <a:rPr lang="fr-FR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x,y,z,t</a:t>
                      </a:r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8000">
                    <a:solidFill>
                      <a:srgbClr val="EDE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0">
                    <a:solidFill>
                      <a:srgbClr val="EDE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multidimensionnel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8000">
                    <a:solidFill>
                      <a:srgbClr val="EDECFE"/>
                    </a:solidFill>
                  </a:tcPr>
                </a:tc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 Signaux réels / complexes</a:t>
            </a:r>
            <a:endParaRPr lang="en-US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65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sz="2400" dirty="0">
                    <a:solidFill>
                      <a:srgbClr val="FF3300"/>
                    </a:solidFill>
                  </a:rPr>
                  <a:t>signal réel  </a:t>
                </a:r>
                <a:r>
                  <a:rPr lang="fr-FR" sz="2400" dirty="0"/>
                  <a:t>:    si  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fr-F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fr-FR" sz="2400" dirty="0"/>
                  <a:t>  </a:t>
                </a:r>
                <a:endParaRPr lang="fr-FR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sz="2400" dirty="0">
                    <a:solidFill>
                      <a:srgbClr val="FF3300"/>
                    </a:solidFill>
                  </a:rPr>
                  <a:t>signal complexe </a:t>
                </a:r>
                <a:r>
                  <a:rPr lang="fr-FR" sz="2400" dirty="0">
                    <a:solidFill>
                      <a:srgbClr val="343C88"/>
                    </a:solidFill>
                  </a:rPr>
                  <a:t>: </a:t>
                </a:r>
                <a:r>
                  <a:rPr lang="fr-FR" sz="2400" dirty="0"/>
                  <a:t>si  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fr-F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</m:oMath>
                </a14:m>
                <a:endParaRPr lang="fr-FR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sz="2000" dirty="0">
                    <a:solidFill>
                      <a:srgbClr val="343C88"/>
                    </a:solidFill>
                  </a:rPr>
                  <a:t>Notations usuelles:</a:t>
                </a:r>
                <a:endParaRPr lang="fr-FR" sz="2000" dirty="0">
                  <a:solidFill>
                    <a:srgbClr val="343C88"/>
                  </a:solidFill>
                </a:endParaRPr>
              </a:p>
              <a:p>
                <a:pPr marL="800100" lvl="1" indent="-342900">
                  <a:lnSpc>
                    <a:spcPts val="2900"/>
                  </a:lnSpc>
                  <a:buFont typeface="Wingdings" panose="05000000000000000000" pitchFamily="2" charset="2"/>
                  <a:buChar char="§"/>
                </a:pPr>
                <a:r>
                  <a:rPr lang="fr-FR" sz="2000" dirty="0"/>
                  <a:t>Nombre complexe 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fr-FR" sz="2000" b="0" dirty="0">
                  <a:solidFill>
                    <a:srgbClr val="343C88"/>
                  </a:solidFill>
                </a:endParaRPr>
              </a:p>
              <a:p>
                <a:pPr marL="800100" lvl="1" indent="-342900">
                  <a:lnSpc>
                    <a:spcPts val="2900"/>
                  </a:lnSpc>
                  <a:buFont typeface="Wingdings" panose="05000000000000000000" pitchFamily="2" charset="2"/>
                  <a:buChar char="§"/>
                </a:pPr>
                <a:r>
                  <a:rPr lang="fr-FR" sz="2000" dirty="0"/>
                  <a:t>Si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2000" b="0" dirty="0"/>
                  <a:t>  :  </a:t>
                </a:r>
                <a:endParaRPr lang="fr-FR" sz="2000" b="0" dirty="0"/>
              </a:p>
              <a:p>
                <a:pPr marL="1259205" lvl="1" indent="-276225">
                  <a:lnSpc>
                    <a:spcPts val="2900"/>
                  </a:lnSpc>
                  <a:buFont typeface="Wingdings" panose="05000000000000000000" pitchFamily="2" charset="2"/>
                  <a:buChar char="§"/>
                </a:pPr>
                <a:r>
                  <a:rPr lang="fr-FR" sz="2000" b="1" dirty="0"/>
                  <a:t>partie réelle </a:t>
                </a:r>
                <a:r>
                  <a:rPr lang="fr-FR" sz="2000" dirty="0"/>
                  <a:t>: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begChr m:val="["/>
                        <m:endChr m:val="]"/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fr-FR" sz="2000" dirty="0"/>
              </a:p>
              <a:p>
                <a:pPr marL="1259205" lvl="1" indent="-276225">
                  <a:lnSpc>
                    <a:spcPts val="2900"/>
                  </a:lnSpc>
                  <a:buFont typeface="Wingdings" panose="05000000000000000000" pitchFamily="2" charset="2"/>
                  <a:buChar char="§"/>
                </a:pPr>
                <a:r>
                  <a:rPr lang="fr-FR" sz="2000" b="1" dirty="0"/>
                  <a:t>partie imaginaire: </a:t>
                </a:r>
                <a:r>
                  <a:rPr lang="fr-FR" sz="2000" b="1" dirty="0">
                    <a:solidFill>
                      <a:srgbClr val="343C88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𝐼𝑚</m:t>
                    </m:r>
                    <m:d>
                      <m:dPr>
                        <m:begChr m:val="["/>
                        <m:endChr m:val="]"/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fr-FR" sz="2000" b="0" dirty="0"/>
              </a:p>
              <a:p>
                <a:pPr marL="1259205" lvl="1" indent="-276225">
                  <a:lnSpc>
                    <a:spcPts val="2900"/>
                  </a:lnSpc>
                  <a:buFont typeface="Wingdings" panose="05000000000000000000" pitchFamily="2" charset="2"/>
                  <a:buChar char="§"/>
                </a:pPr>
                <a:r>
                  <a:rPr lang="fr-FR" sz="2000" b="1" dirty="0"/>
                  <a:t>module: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rad>
                  </m:oMath>
                </a14:m>
                <a:r>
                  <a:rPr lang="fr-FR" sz="2000" dirty="0">
                    <a:solidFill>
                      <a:srgbClr val="343C88"/>
                    </a:solidFill>
                  </a:rPr>
                  <a:t> </a:t>
                </a:r>
                <a:endParaRPr lang="fr-FR" sz="2000" dirty="0">
                  <a:solidFill>
                    <a:srgbClr val="343C88"/>
                  </a:solidFill>
                </a:endParaRPr>
              </a:p>
              <a:p>
                <a:pPr marL="1259205" lvl="1" indent="-276225">
                  <a:lnSpc>
                    <a:spcPts val="2900"/>
                  </a:lnSpc>
                  <a:buFont typeface="Wingdings" panose="05000000000000000000" pitchFamily="2" charset="2"/>
                  <a:buChar char="§"/>
                </a:pPr>
                <a:r>
                  <a:rPr lang="fr-FR" sz="2000" b="1" dirty="0"/>
                  <a:t>argument</a:t>
                </a:r>
                <a:r>
                  <a:rPr lang="fr-FR" sz="2000" b="0" dirty="0"/>
                  <a:t>: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𝐴𝑟𝑔</m:t>
                    </m:r>
                    <m:d>
                      <m:dPr>
                        <m:begChr m:val="["/>
                        <m:endChr m:val="]"/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𝑎𝑟𝑐𝑡𝑎𝑛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endParaRPr lang="fr-FR" sz="2000" b="0" i="1" dirty="0">
                  <a:latin typeface="Cambria Math" panose="02040503050406030204" pitchFamily="18" charset="0"/>
                </a:endParaRPr>
              </a:p>
              <a:p>
                <a:pPr marL="800100" lvl="1" indent="-342900">
                  <a:lnSpc>
                    <a:spcPts val="29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𝑗𝐴𝑟𝑔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fr-FR" sz="2000" b="0" i="1" smtClean="0">
                                    <a:solidFill>
                                      <a:srgbClr val="343C8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0" i="1" smtClean="0">
                                    <a:solidFill>
                                      <a:srgbClr val="343C88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sup>
                    </m:sSup>
                  </m:oMath>
                </a14:m>
                <a:endParaRPr lang="fr-FR" sz="2000" b="0" dirty="0"/>
              </a:p>
              <a:p>
                <a:pPr marL="800100" lvl="1" indent="-342900">
                  <a:lnSpc>
                    <a:spcPts val="2900"/>
                  </a:lnSpc>
                  <a:buFont typeface="Wingdings" panose="05000000000000000000" pitchFamily="2" charset="2"/>
                  <a:buChar char="§"/>
                </a:pPr>
                <a:r>
                  <a:rPr lang="fr-FR" sz="2000" b="1" dirty="0"/>
                  <a:t>Complexe conjugué</a:t>
                </a:r>
                <a:r>
                  <a:rPr lang="fr-FR" sz="2000" dirty="0"/>
                  <a:t>: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fr-FR" sz="2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fr-FR" sz="2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fr-FR" sz="2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2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𝑗𝐴𝑟𝑔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fr-FR" sz="2000" i="1">
                                    <a:solidFill>
                                      <a:srgbClr val="343C8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solidFill>
                                      <a:srgbClr val="343C88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sup>
                    </m:sSup>
                  </m:oMath>
                </a14:m>
                <a:endParaRPr lang="fr-FR" sz="2000" dirty="0"/>
              </a:p>
            </p:txBody>
          </p:sp>
        </mc:Choice>
        <mc:Fallback>
          <p:sp>
            <p:nvSpPr>
              <p:cNvPr id="9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65600"/>
              </a:xfrm>
              <a:prstGeom prst="rect">
                <a:avLst/>
              </a:prstGeom>
              <a:blipFill rotWithShape="1">
                <a:blip r:embed="rId1"/>
                <a:stretch>
                  <a:fillRect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  Signaux déterministes /  aléatoires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1520" y="1143000"/>
            <a:ext cx="8568952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200" dirty="0">
                <a:solidFill>
                  <a:srgbClr val="505ABC"/>
                </a:solidFill>
                <a:cs typeface="Arial" panose="020B0604020202020204" pitchFamily="34" charset="0"/>
              </a:rPr>
              <a:t>Signaux déterministes (ou signaux certains): </a:t>
            </a:r>
            <a:r>
              <a:rPr lang="fr-FR" sz="2200" dirty="0">
                <a:cs typeface="Arial" panose="020B0604020202020204" pitchFamily="34" charset="0"/>
              </a:rPr>
              <a:t>on connaît la valeur du signal quelque soit l’instant t .</a:t>
            </a:r>
            <a:endParaRPr lang="fr-FR" sz="2200" dirty="0"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2200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200" dirty="0">
                <a:cs typeface="Arial" panose="020B0604020202020204" pitchFamily="34" charset="0"/>
              </a:rPr>
              <a:t>Leur évolution en fonction du temps peut être parfaitement modélisée par </a:t>
            </a:r>
            <a:r>
              <a:rPr lang="fr-FR" sz="2200" dirty="0">
                <a:solidFill>
                  <a:srgbClr val="FF0000"/>
                </a:solidFill>
                <a:cs typeface="Arial" panose="020B0604020202020204" pitchFamily="34" charset="0"/>
              </a:rPr>
              <a:t>une fonction mathématique </a:t>
            </a:r>
            <a:r>
              <a:rPr lang="fr-FR" sz="2200" dirty="0">
                <a:cs typeface="Arial" panose="020B0604020202020204" pitchFamily="34" charset="0"/>
              </a:rPr>
              <a:t>appropriée. </a:t>
            </a:r>
            <a:endParaRPr lang="fr-FR" sz="2200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FR" sz="2200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200" dirty="0">
                <a:cs typeface="Arial" panose="020B0604020202020204" pitchFamily="34" charset="0"/>
              </a:rPr>
              <a:t>On retrouve dans cette classe les signaux périodiques, les signaux non périodiques et les signaux transitoires: </a:t>
            </a:r>
            <a:endParaRPr lang="fr-FR" sz="2200" dirty="0">
              <a:cs typeface="Arial" panose="020B0604020202020204" pitchFamily="34" charset="0"/>
            </a:endParaRPr>
          </a:p>
          <a:p>
            <a:pPr algn="just"/>
            <a:r>
              <a:rPr lang="fr-FR" altLang="fr-FR" sz="2400" dirty="0">
                <a:solidFill>
                  <a:srgbClr val="CC9900"/>
                </a:solidFill>
                <a:latin typeface="TIMES" panose="02020603050405020304" pitchFamily="18" charset="0"/>
                <a:sym typeface="Monotype Sorts" pitchFamily="2" charset="2"/>
              </a:rPr>
              <a:t>     </a:t>
            </a:r>
            <a:endParaRPr lang="fr-FR" altLang="fr-FR" sz="2400" dirty="0">
              <a:solidFill>
                <a:srgbClr val="CC9900"/>
              </a:solidFill>
              <a:latin typeface="TIMES" panose="02020603050405020304" pitchFamily="18" charset="0"/>
              <a:sym typeface="Monotype Sorts" pitchFamily="2" charset="2"/>
            </a:endParaRPr>
          </a:p>
          <a:p>
            <a:pPr algn="just"/>
            <a:r>
              <a:rPr lang="fr-FR" altLang="fr-FR" sz="2400" dirty="0">
                <a:solidFill>
                  <a:srgbClr val="CC9900"/>
                </a:solidFill>
                <a:latin typeface="TIMES" panose="02020603050405020304" pitchFamily="18" charset="0"/>
                <a:sym typeface="Monotype Sorts" pitchFamily="2" charset="2"/>
              </a:rPr>
              <a:t>          apériodiques</a:t>
            </a:r>
            <a:r>
              <a:rPr lang="fr-FR" altLang="fr-FR" sz="2400" dirty="0">
                <a:latin typeface="TIMES" panose="02020603050405020304" pitchFamily="18" charset="0"/>
                <a:sym typeface="Monotype Sorts" pitchFamily="2" charset="2"/>
              </a:rPr>
              <a:t> 	           </a:t>
            </a:r>
            <a:r>
              <a:rPr lang="fr-FR" altLang="fr-FR" sz="2400" dirty="0">
                <a:solidFill>
                  <a:srgbClr val="CC9900"/>
                </a:solidFill>
                <a:latin typeface="TIMES" panose="02020603050405020304" pitchFamily="18" charset="0"/>
                <a:sym typeface="Monotype Sorts" pitchFamily="2" charset="2"/>
              </a:rPr>
              <a:t>périodiques</a:t>
            </a:r>
            <a:r>
              <a:rPr lang="fr-FR" altLang="fr-FR" sz="2400" dirty="0">
                <a:latin typeface="TIMES" panose="02020603050405020304" pitchFamily="18" charset="0"/>
                <a:sym typeface="Monotype Sorts" pitchFamily="2" charset="2"/>
              </a:rPr>
              <a:t>                </a:t>
            </a:r>
            <a:r>
              <a:rPr lang="fr-FR" altLang="fr-FR" sz="2400" dirty="0">
                <a:solidFill>
                  <a:srgbClr val="CC9900"/>
                </a:solidFill>
                <a:latin typeface="TIMES" panose="02020603050405020304" pitchFamily="18" charset="0"/>
                <a:sym typeface="Monotype Sorts" pitchFamily="2" charset="2"/>
              </a:rPr>
              <a:t>transitoires</a:t>
            </a:r>
            <a:endParaRPr lang="fr-FR" altLang="fr-FR" sz="2400" dirty="0">
              <a:solidFill>
                <a:srgbClr val="CC9900"/>
              </a:solidFill>
              <a:latin typeface="TIMES" panose="02020603050405020304" pitchFamily="18" charset="0"/>
              <a:sym typeface="Monotype Sorts" pitchFamily="2" charset="2"/>
            </a:endParaRPr>
          </a:p>
          <a:p>
            <a:pPr algn="just"/>
            <a:endParaRPr lang="fr-FR" sz="2400" dirty="0"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6876256" y="6364915"/>
            <a:ext cx="2133600" cy="476250"/>
          </a:xfrm>
        </p:spPr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574" y="4881336"/>
            <a:ext cx="2643188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82" y="4874860"/>
            <a:ext cx="2562225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629" y="4909911"/>
            <a:ext cx="2566987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 Signaux déterministes / aléatoires</a:t>
            </a:r>
            <a:endParaRPr lang="en-US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247427"/>
            <a:ext cx="82296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tabLst>
                <a:tab pos="1884045" algn="l"/>
              </a:tabLst>
            </a:pPr>
            <a:r>
              <a:rPr lang="fr-FR" sz="2200" dirty="0">
                <a:solidFill>
                  <a:srgbClr val="505ABC"/>
                </a:solidFill>
                <a:cs typeface="Arial" panose="020B0604020202020204" pitchFamily="34" charset="0"/>
              </a:rPr>
              <a:t>Signaux aléatoires </a:t>
            </a:r>
            <a:r>
              <a:rPr lang="fr-FR" sz="2200" dirty="0">
                <a:cs typeface="Arial" panose="020B0604020202020204" pitchFamily="34" charset="0"/>
              </a:rPr>
              <a:t>: l’évolution est </a:t>
            </a:r>
            <a:r>
              <a:rPr lang="fr-FR" sz="2200" dirty="0">
                <a:solidFill>
                  <a:srgbClr val="FF0000"/>
                </a:solidFill>
                <a:cs typeface="Arial" panose="020B0604020202020204" pitchFamily="34" charset="0"/>
              </a:rPr>
              <a:t>imprévisible </a:t>
            </a:r>
            <a:r>
              <a:rPr lang="fr-FR" sz="2200" dirty="0">
                <a:cs typeface="Arial" panose="020B0604020202020204" pitchFamily="34" charset="0"/>
              </a:rPr>
              <a:t>et non reproductible d’une expérience à l’autre.  </a:t>
            </a:r>
            <a:endParaRPr lang="fr-FR" sz="2200" dirty="0">
              <a:cs typeface="Arial" panose="020B0604020202020204" pitchFamily="34" charset="0"/>
            </a:endParaRPr>
          </a:p>
          <a:p>
            <a:pPr algn="just"/>
            <a:endParaRPr lang="fr-FR" sz="2200" dirty="0"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2200" dirty="0">
                <a:cs typeface="Arial" panose="020B0604020202020204" pitchFamily="34" charset="0"/>
              </a:rPr>
              <a:t>  Exemple : le bruit</a:t>
            </a:r>
            <a:endParaRPr lang="fr-FR" sz="2200" dirty="0"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2200" dirty="0"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2200" dirty="0"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fr-FR" sz="2200" dirty="0"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2200" dirty="0"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2200" dirty="0"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2200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200" dirty="0">
                <a:cs typeface="Arial" panose="020B0604020202020204" pitchFamily="34" charset="0"/>
              </a:rPr>
              <a:t>Il faut faire appel à leurs </a:t>
            </a:r>
            <a:r>
              <a:rPr lang="fr-FR" sz="2200" dirty="0">
                <a:solidFill>
                  <a:srgbClr val="FF0000"/>
                </a:solidFill>
                <a:cs typeface="Arial" panose="020B0604020202020204" pitchFamily="34" charset="0"/>
              </a:rPr>
              <a:t>propriétés statistiques </a:t>
            </a:r>
            <a:r>
              <a:rPr lang="fr-FR" sz="2200" dirty="0">
                <a:cs typeface="Arial" panose="020B0604020202020204" pitchFamily="34" charset="0"/>
              </a:rPr>
              <a:t>pour les décrire (moyenne, variance, loi de probabilité,…). </a:t>
            </a:r>
            <a:endParaRPr lang="fr-FR" sz="2200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200" dirty="0">
                <a:cs typeface="Arial" panose="020B0604020202020204" pitchFamily="34" charset="0"/>
              </a:rPr>
              <a:t>Si leurs propriétés statistiques sont invariantes dans le temps, on dit qu’ils sont </a:t>
            </a:r>
            <a:r>
              <a:rPr lang="fr-FR" sz="2200" dirty="0">
                <a:solidFill>
                  <a:srgbClr val="FF0000"/>
                </a:solidFill>
                <a:cs typeface="Arial" panose="020B0604020202020204" pitchFamily="34" charset="0"/>
              </a:rPr>
              <a:t> stationnaires</a:t>
            </a:r>
            <a:r>
              <a:rPr lang="fr-FR" sz="2200" dirty="0">
                <a:cs typeface="Arial" panose="020B0604020202020204" pitchFamily="34" charset="0"/>
              </a:rPr>
              <a:t>.   </a:t>
            </a:r>
            <a:endParaRPr lang="fr-FR" sz="2200" dirty="0">
              <a:cs typeface="Arial" panose="020B0604020202020204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491880" y="2132856"/>
            <a:ext cx="2909337" cy="2998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11760" y="1412776"/>
            <a:ext cx="4180388" cy="306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95536" y="4941168"/>
            <a:ext cx="842493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+mn-lt"/>
              </a:rPr>
              <a:t>On a souvent</a:t>
            </a:r>
            <a:r>
              <a:rPr lang="fr-FR" sz="2800" dirty="0">
                <a:latin typeface="+mn-lt"/>
              </a:rPr>
              <a:t>: </a:t>
            </a:r>
            <a:endParaRPr lang="fr-FR" sz="2800" dirty="0">
              <a:latin typeface="+mn-lt"/>
            </a:endParaRPr>
          </a:p>
          <a:p>
            <a:pPr algn="just"/>
            <a:endParaRPr lang="fr-FR" sz="2800" dirty="0">
              <a:latin typeface="+mn-lt"/>
            </a:endParaRPr>
          </a:p>
          <a:p>
            <a:pPr algn="just"/>
            <a:r>
              <a:rPr lang="fr-FR" sz="2600" dirty="0">
                <a:latin typeface="+mn-lt"/>
              </a:rPr>
              <a:t> </a:t>
            </a:r>
            <a:r>
              <a:rPr lang="fr-FR" sz="2200" dirty="0">
                <a:solidFill>
                  <a:srgbClr val="FF0000"/>
                </a:solidFill>
                <a:latin typeface="+mn-lt"/>
              </a:rPr>
              <a:t>signal réel  = signal déterministe  +  signal aléatoire ( bruit)</a:t>
            </a:r>
            <a:endParaRPr lang="fr-FR" sz="2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  Signaux déterministes /  aléatoires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 Signaux continus / discrets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95536" y="1484784"/>
                <a:ext cx="8424936" cy="53245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2200" dirty="0">
                    <a:cs typeface="Arial" panose="020B0604020202020204" pitchFamily="34" charset="0"/>
                  </a:rPr>
                  <a:t>Il existe deux types de signaux temporels :</a:t>
                </a:r>
                <a:endParaRPr lang="fr-FR" sz="2200" dirty="0">
                  <a:cs typeface="Arial" panose="020B0604020202020204" pitchFamily="34" charset="0"/>
                </a:endParaRPr>
              </a:p>
              <a:p>
                <a:pPr algn="just"/>
                <a:endParaRPr lang="fr-FR" sz="2200" dirty="0">
                  <a:cs typeface="Arial" panose="020B0604020202020204" pitchFamily="34" charset="0"/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fr-FR" sz="22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 Signaux à variable continue </a:t>
                </a:r>
                <a:r>
                  <a:rPr lang="fr-FR" sz="2200" dirty="0"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</m:t>
                    </m:r>
                    <m:r>
                      <a:rPr lang="fr-FR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𝑎𝑣𝑒𝑐</m:t>
                    </m:r>
                    <m:r>
                      <a:rPr lang="fr-FR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</m:t>
                    </m:r>
                    <m:r>
                      <a:rPr lang="fr-FR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fr-FR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∈</m:t>
                    </m:r>
                    <m:r>
                      <a:rPr lang="fr-FR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ℝ</m:t>
                    </m:r>
                  </m:oMath>
                </a14:m>
                <a:endParaRPr lang="fr-FR" sz="2200" dirty="0">
                  <a:solidFill>
                    <a:srgbClr val="002060"/>
                  </a:solidFill>
                  <a:cs typeface="Arial" panose="020B0604020202020204" pitchFamily="34" charset="0"/>
                </a:endParaRPr>
              </a:p>
              <a:p>
                <a:pPr lvl="1" algn="just"/>
                <a:endParaRPr lang="fr-FR" sz="2000" dirty="0">
                  <a:cs typeface="Arial" panose="020B0604020202020204" pitchFamily="34" charset="0"/>
                </a:endParaRPr>
              </a:p>
              <a:p>
                <a:pPr lvl="1" algn="just"/>
                <a:r>
                  <a:rPr lang="fr-FR" sz="2000" dirty="0">
                    <a:cs typeface="Arial" panose="020B0604020202020204" pitchFamily="34" charset="0"/>
                  </a:rPr>
                  <a:t>signal connu à </a:t>
                </a:r>
                <a:r>
                  <a:rPr lang="fr-FR" sz="2000" b="1" dirty="0">
                    <a:cs typeface="Arial" panose="020B0604020202020204" pitchFamily="34" charset="0"/>
                  </a:rPr>
                  <a:t>chaque instant </a:t>
                </a:r>
                <a:r>
                  <a:rPr lang="fr-FR" sz="2000" dirty="0">
                    <a:cs typeface="Arial" panose="020B0604020202020204" pitchFamily="34" charset="0"/>
                  </a:rPr>
                  <a:t>t </a:t>
                </a:r>
                <a:endParaRPr lang="fr-FR" sz="20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fr-FR" sz="2000" dirty="0">
                    <a:cs typeface="Arial" panose="020B0604020202020204" pitchFamily="34" charset="0"/>
                  </a:rPr>
                  <a:t>       </a:t>
                </a:r>
                <a:r>
                  <a:rPr lang="fr-FR" sz="2000" u="sng" dirty="0">
                    <a:cs typeface="Arial" panose="020B0604020202020204" pitchFamily="34" charset="0"/>
                  </a:rPr>
                  <a:t>Exemple</a:t>
                </a:r>
                <a:r>
                  <a:rPr lang="fr-FR" sz="2000" dirty="0">
                    <a:cs typeface="Arial" panose="020B0604020202020204" pitchFamily="34" charset="0"/>
                  </a:rPr>
                  <a:t> : onde électromagnétique, signal électrique, ...</a:t>
                </a:r>
                <a:endParaRPr lang="fr-FR" sz="20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fr-FR" sz="20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      </a:t>
                </a:r>
                <a:r>
                  <a:rPr lang="fr-FR" sz="2000" i="1" dirty="0">
                    <a:solidFill>
                      <a:srgbClr val="343C88"/>
                    </a:solidFill>
                    <a:cs typeface="Arial" panose="020B0604020202020204" pitchFamily="34" charset="0"/>
                  </a:rPr>
                  <a:t>Traitement analogique du signal </a:t>
                </a:r>
                <a:endParaRPr lang="fr-FR" sz="2000" i="1" dirty="0">
                  <a:solidFill>
                    <a:srgbClr val="343C88"/>
                  </a:solidFill>
                  <a:cs typeface="Arial" panose="020B0604020202020204" pitchFamily="34" charset="0"/>
                </a:endParaRPr>
              </a:p>
              <a:p>
                <a:pPr algn="just"/>
                <a:endParaRPr lang="fr-FR" sz="220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 algn="just"/>
                <a:endParaRPr lang="fr-FR" sz="220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fr-FR" sz="22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 Signaux à variable discrète: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fr-FR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</m:t>
                    </m:r>
                    <m:r>
                      <a:rPr lang="fr-FR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𝑎𝑣𝑒𝑐</m:t>
                    </m:r>
                    <m:r>
                      <a:rPr lang="fr-FR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 </m:t>
                    </m:r>
                    <m:r>
                      <a:rPr lang="fr-FR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fr-FR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∈</m:t>
                    </m:r>
                    <m:r>
                      <a:rPr lang="fr-FR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ℤ</m:t>
                    </m:r>
                  </m:oMath>
                </a14:m>
                <a:endParaRPr lang="fr-FR" sz="2400" dirty="0">
                  <a:solidFill>
                    <a:srgbClr val="FF0000"/>
                  </a:solidFill>
                  <a:latin typeface="Century Gothic" panose="020B0502020202020204" pitchFamily="34" charset="0"/>
                  <a:cs typeface="Arial" panose="020B0604020202020204" pitchFamily="34" charset="0"/>
                </a:endParaRPr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fr-FR" sz="22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fr-FR" sz="2200" dirty="0">
                    <a:cs typeface="Arial" panose="020B0604020202020204" pitchFamily="34" charset="0"/>
                  </a:rPr>
                  <a:t>      </a:t>
                </a:r>
                <a:r>
                  <a:rPr lang="fr-FR" sz="2000" dirty="0">
                    <a:cs typeface="Arial" panose="020B0604020202020204" pitchFamily="34" charset="0"/>
                  </a:rPr>
                  <a:t>signal connu uniquement à </a:t>
                </a:r>
                <a:r>
                  <a:rPr lang="fr-FR" sz="2000" b="1" dirty="0">
                    <a:cs typeface="Arial" panose="020B0604020202020204" pitchFamily="34" charset="0"/>
                  </a:rPr>
                  <a:t>certains instants </a:t>
                </a:r>
                <a:r>
                  <a:rPr lang="fr-FR" sz="2000" i="1" dirty="0">
                    <a:cs typeface="Arial" panose="020B0604020202020204" pitchFamily="34" charset="0"/>
                  </a:rPr>
                  <a:t>t</a:t>
                </a:r>
                <a:r>
                  <a:rPr lang="fr-FR" sz="2000" i="1" baseline="-25000" dirty="0">
                    <a:cs typeface="Arial" panose="020B0604020202020204" pitchFamily="34" charset="0"/>
                  </a:rPr>
                  <a:t>n</a:t>
                </a:r>
                <a:endParaRPr lang="fr-FR" sz="2000" i="1" baseline="-25000" dirty="0">
                  <a:cs typeface="Arial" panose="020B0604020202020204" pitchFamily="34" charset="0"/>
                </a:endParaRPr>
              </a:p>
              <a:p>
                <a:r>
                  <a:rPr lang="fr-FR" sz="2000" dirty="0">
                    <a:cs typeface="Arial" panose="020B0604020202020204" pitchFamily="34" charset="0"/>
                  </a:rPr>
                  <a:t>      </a:t>
                </a:r>
                <a:r>
                  <a:rPr lang="fr-FR" sz="2000" u="sng" dirty="0">
                    <a:cs typeface="Arial" panose="020B0604020202020204" pitchFamily="34" charset="0"/>
                  </a:rPr>
                  <a:t>Exemple </a:t>
                </a:r>
                <a:r>
                  <a:rPr lang="fr-FR" sz="2000" dirty="0">
                    <a:cs typeface="Arial" panose="020B0604020202020204" pitchFamily="34" charset="0"/>
                  </a:rPr>
                  <a:t>: cours de la bourse enregistré chaque heure, signal    </a:t>
                </a:r>
                <a:endParaRPr lang="fr-FR" sz="2000" dirty="0">
                  <a:cs typeface="Arial" panose="020B0604020202020204" pitchFamily="34" charset="0"/>
                </a:endParaRPr>
              </a:p>
              <a:p>
                <a:r>
                  <a:rPr lang="fr-FR" sz="2000" dirty="0">
                    <a:cs typeface="Arial" panose="020B0604020202020204" pitchFamily="34" charset="0"/>
                  </a:rPr>
                  <a:t>      provenant d’un signal analogique que l’on a échantillonné</a:t>
                </a:r>
                <a:endParaRPr lang="fr-FR" sz="2000" dirty="0">
                  <a:cs typeface="Arial" panose="020B0604020202020204" pitchFamily="34" charset="0"/>
                </a:endParaRPr>
              </a:p>
              <a:p>
                <a:r>
                  <a:rPr lang="fr-FR" sz="2000" dirty="0">
                    <a:cs typeface="Arial" panose="020B0604020202020204" pitchFamily="34" charset="0"/>
                  </a:rPr>
                  <a:t>      </a:t>
                </a:r>
                <a:r>
                  <a:rPr lang="fr-FR" sz="2000" i="1" dirty="0">
                    <a:solidFill>
                      <a:srgbClr val="343C88"/>
                    </a:solidFill>
                    <a:cs typeface="Arial" panose="020B0604020202020204" pitchFamily="34" charset="0"/>
                  </a:rPr>
                  <a:t>Traitement numérique du signal </a:t>
                </a:r>
                <a:endParaRPr lang="fr-FR" sz="2000" i="1" dirty="0">
                  <a:solidFill>
                    <a:srgbClr val="343C88"/>
                  </a:solidFill>
                  <a:cs typeface="Arial" panose="020B0604020202020204" pitchFamily="34" charset="0"/>
                </a:endParaRPr>
              </a:p>
              <a:p>
                <a:endParaRPr lang="fr-FR" sz="2000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484784"/>
                <a:ext cx="8424936" cy="5324535"/>
              </a:xfrm>
              <a:prstGeom prst="rect">
                <a:avLst/>
              </a:prstGeom>
              <a:blipFill rotWithShape="1">
                <a:blip r:embed="rId1"/>
                <a:stretch>
                  <a:fillRect l="-7" t="-3" r="4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5536" y="1484784"/>
            <a:ext cx="84249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cs typeface="Arial" panose="020B0604020202020204" pitchFamily="34" charset="0"/>
              </a:rPr>
              <a:t>Il existe deux types de signaux temporels :</a:t>
            </a:r>
            <a:endParaRPr lang="fr-FR" sz="2200" dirty="0">
              <a:cs typeface="Arial" panose="020B0604020202020204" pitchFamily="34" charset="0"/>
            </a:endParaRPr>
          </a:p>
          <a:p>
            <a:pPr algn="just"/>
            <a:endParaRPr lang="fr-FR" sz="2200" dirty="0">
              <a:cs typeface="Arial" panose="020B0604020202020204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479" y="2335846"/>
            <a:ext cx="6877050" cy="3581400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 Signaux continus / discrets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7544" y="2126855"/>
            <a:ext cx="3960440" cy="3750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2293" y="2122966"/>
            <a:ext cx="4178179" cy="3754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 Signaux continus / discrets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1520" y="1700808"/>
            <a:ext cx="8667349" cy="4274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 Signaux continus / discrets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6307" y="1682806"/>
            <a:ext cx="8684165" cy="3618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 Signaux continus / discrets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251520" y="1340768"/>
                <a:ext cx="8496944" cy="46611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2200" b="1" u="sng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Support temporel</a:t>
                </a:r>
                <a:r>
                  <a:rPr lang="fr-FR" sz="2200" b="1" dirty="0">
                    <a:cs typeface="Arial" panose="020B0604020202020204" pitchFamily="34" charset="0"/>
                  </a:rPr>
                  <a:t>: </a:t>
                </a:r>
                <a:r>
                  <a:rPr lang="fr-FR" sz="2200" dirty="0">
                    <a:cs typeface="Arial" panose="020B0604020202020204" pitchFamily="34" charset="0"/>
                  </a:rPr>
                  <a:t>On appelle </a:t>
                </a:r>
                <a:r>
                  <a:rPr lang="fr-FR" sz="2200" dirty="0">
                    <a:solidFill>
                      <a:srgbClr val="0000FF"/>
                    </a:solidFill>
                    <a:cs typeface="Arial" panose="020B0604020202020204" pitchFamily="34" charset="0"/>
                  </a:rPr>
                  <a:t>support temporel, </a:t>
                </a:r>
                <a:r>
                  <a:rPr lang="fr-FR" sz="2200" dirty="0">
                    <a:cs typeface="Arial" panose="020B0604020202020204" pitchFamily="34" charset="0"/>
                  </a:rPr>
                  <a:t>l’ensemble des temps </a:t>
                </a:r>
                <a14:m>
                  <m:oMath xmlns:m="http://schemas.openxmlformats.org/officeDocument/2006/math">
                    <m:r>
                      <a:rPr lang="fr-FR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fr-FR" sz="2200" dirty="0">
                    <a:cs typeface="Arial" panose="020B0604020202020204" pitchFamily="34" charset="0"/>
                  </a:rPr>
                  <a:t> (ou des échantillons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fr-FR" sz="2200" dirty="0">
                    <a:cs typeface="Arial" panose="020B0604020202020204" pitchFamily="34" charset="0"/>
                  </a:rPr>
                  <a:t> si le signal est discret) pour lesquels le signal</a:t>
                </a:r>
                <a:r>
                  <a:rPr lang="fr-FR" sz="2000" b="0" dirty="0">
                    <a:solidFill>
                      <a:srgbClr val="002060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fr-FR" sz="2200" dirty="0">
                    <a:cs typeface="Arial" panose="020B0604020202020204" pitchFamily="34" charset="0"/>
                  </a:rPr>
                  <a:t>(resp.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fr-FR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fr-FR" sz="2200" dirty="0">
                    <a:cs typeface="Arial" panose="020B0604020202020204" pitchFamily="34" charset="0"/>
                  </a:rPr>
                  <a:t>) est </a:t>
                </a:r>
                <a:r>
                  <a:rPr lang="fr-FR" sz="2200" dirty="0">
                    <a:solidFill>
                      <a:srgbClr val="0000FF"/>
                    </a:solidFill>
                    <a:cs typeface="Arial" panose="020B0604020202020204" pitchFamily="34" charset="0"/>
                  </a:rPr>
                  <a:t>défini et non nul.</a:t>
                </a:r>
                <a:endParaRPr lang="fr-FR" sz="2200" dirty="0">
                  <a:solidFill>
                    <a:srgbClr val="0000FF"/>
                  </a:solidFill>
                  <a:cs typeface="Arial" panose="020B0604020202020204" pitchFamily="34" charset="0"/>
                </a:endParaRPr>
              </a:p>
              <a:p>
                <a:pPr algn="just"/>
                <a:endParaRPr lang="fr-FR" sz="2000" dirty="0">
                  <a:cs typeface="Arial" panose="020B0604020202020204" pitchFamily="34" charset="0"/>
                </a:endParaRPr>
              </a:p>
              <a:p>
                <a:pPr marL="265430" algn="just">
                  <a:buFont typeface="Calibri" panose="020F0502020204030204" pitchFamily="34" charset="0"/>
                  <a:buChar char="›"/>
                </a:pPr>
                <a:r>
                  <a:rPr lang="fr-FR" sz="2000" b="1" dirty="0">
                    <a:cs typeface="Arial" panose="020B0604020202020204" pitchFamily="34" charset="0"/>
                  </a:rPr>
                  <a:t>  Cas continu. </a:t>
                </a:r>
                <a:r>
                  <a:rPr lang="fr-FR" sz="2000" dirty="0">
                    <a:cs typeface="Arial" panose="020B0604020202020204" pitchFamily="34" charset="0"/>
                  </a:rPr>
                  <a:t>Si cet ensemble correspond à un intervalle ayant des limites hautes et basses, on dit que le support temporel est </a:t>
                </a:r>
                <a:r>
                  <a:rPr lang="fr-FR" sz="2000" dirty="0">
                    <a:solidFill>
                      <a:srgbClr val="0000FF"/>
                    </a:solidFill>
                    <a:cs typeface="Arial" panose="020B0604020202020204" pitchFamily="34" charset="0"/>
                  </a:rPr>
                  <a:t>borné</a:t>
                </a:r>
                <a:r>
                  <a:rPr lang="fr-FR" sz="2000" dirty="0">
                    <a:cs typeface="Arial" panose="020B0604020202020204" pitchFamily="34" charset="0"/>
                  </a:rPr>
                  <a:t>. Sinon, on dit qu’il est non borné.</a:t>
                </a:r>
                <a:endParaRPr lang="fr-FR" sz="2000" dirty="0">
                  <a:cs typeface="Arial" panose="020B0604020202020204" pitchFamily="34" charset="0"/>
                </a:endParaRPr>
              </a:p>
              <a:p>
                <a:pPr marL="265430" algn="just">
                  <a:buFont typeface="Calibri" panose="020F0502020204030204" pitchFamily="34" charset="0"/>
                  <a:buChar char="›"/>
                </a:pPr>
                <a:endParaRPr lang="fr-FR" sz="2000" dirty="0">
                  <a:cs typeface="Arial" panose="020B0604020202020204" pitchFamily="34" charset="0"/>
                </a:endParaRPr>
              </a:p>
              <a:p>
                <a:pPr marL="265430" algn="just">
                  <a:buFont typeface="Calibri" panose="020F0502020204030204" pitchFamily="34" charset="0"/>
                  <a:buChar char="›"/>
                </a:pPr>
                <a:r>
                  <a:rPr lang="fr-FR" sz="2000" dirty="0">
                    <a:cs typeface="Arial" panose="020B0604020202020204" pitchFamily="34" charset="0"/>
                  </a:rPr>
                  <a:t>  </a:t>
                </a:r>
                <a:r>
                  <a:rPr lang="fr-FR" sz="2000" b="1" dirty="0">
                    <a:cs typeface="Arial" panose="020B0604020202020204" pitchFamily="34" charset="0"/>
                  </a:rPr>
                  <a:t>Cas discret. </a:t>
                </a:r>
                <a:r>
                  <a:rPr lang="fr-FR" sz="2000" dirty="0">
                    <a:cs typeface="Arial" panose="020B0604020202020204" pitchFamily="34" charset="0"/>
                  </a:rPr>
                  <a:t>Si cet ensemble contient un nombre fini de valeurs, on dit que le support temporel est </a:t>
                </a:r>
                <a:r>
                  <a:rPr lang="fr-FR" sz="2000" dirty="0">
                    <a:solidFill>
                      <a:srgbClr val="0000FF"/>
                    </a:solidFill>
                    <a:cs typeface="Arial" panose="020B0604020202020204" pitchFamily="34" charset="0"/>
                  </a:rPr>
                  <a:t>fini</a:t>
                </a:r>
                <a:r>
                  <a:rPr lang="fr-FR" sz="2000" dirty="0">
                    <a:cs typeface="Arial" panose="020B0604020202020204" pitchFamily="34" charset="0"/>
                  </a:rPr>
                  <a:t>. Sinon, on dit qu’il est infini.</a:t>
                </a:r>
                <a:endParaRPr lang="fr-FR" sz="2000" dirty="0">
                  <a:cs typeface="Arial" panose="020B0604020202020204" pitchFamily="34" charset="0"/>
                </a:endParaRPr>
              </a:p>
              <a:p>
                <a:pPr marL="265430" algn="just">
                  <a:buFont typeface="Calibri" panose="020F0502020204030204" pitchFamily="34" charset="0"/>
                  <a:buChar char="›"/>
                </a:pPr>
                <a:endParaRPr lang="fr-FR" sz="2200" dirty="0">
                  <a:cs typeface="Arial" panose="020B0604020202020204" pitchFamily="34" charset="0"/>
                </a:endParaRPr>
              </a:p>
              <a:p>
                <a:pPr marL="265430" algn="just">
                  <a:buFont typeface="Calibri" panose="020F0502020204030204" pitchFamily="34" charset="0"/>
                  <a:buChar char="›"/>
                </a:pPr>
                <a:endParaRPr lang="fr-FR" sz="22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fr-FR" sz="2200" i="1" dirty="0">
                    <a:cs typeface="Arial" panose="020B0604020202020204" pitchFamily="34" charset="0"/>
                  </a:rPr>
                  <a:t>Remarque : Dans la pratique, tous les </a:t>
                </a:r>
                <a:r>
                  <a:rPr lang="fr-FR" sz="2200" i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signaux physiques </a:t>
                </a:r>
                <a:r>
                  <a:rPr lang="fr-FR" sz="2200" i="1" dirty="0">
                    <a:cs typeface="Arial" panose="020B0604020202020204" pitchFamily="34" charset="0"/>
                  </a:rPr>
                  <a:t>observés sont à </a:t>
                </a:r>
                <a:r>
                  <a:rPr lang="fr-FR" sz="2200" i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support fini ou à support borné.</a:t>
                </a:r>
                <a:endParaRPr lang="fr-FR" sz="2200" i="1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340768"/>
                <a:ext cx="8496944" cy="4661148"/>
              </a:xfrm>
              <a:prstGeom prst="rect">
                <a:avLst/>
              </a:prstGeom>
              <a:blipFill rotWithShape="1">
                <a:blip r:embed="rId1"/>
                <a:stretch>
                  <a:fillRect l="-1" t="-6" r="1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 Signaux continus / discrets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1340768"/>
            <a:ext cx="849694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200" b="1" dirty="0">
                <a:solidFill>
                  <a:srgbClr val="FF3300"/>
                </a:solidFill>
                <a:cs typeface="Arial" panose="020B0604020202020204" pitchFamily="34" charset="0"/>
              </a:rPr>
              <a:t>Puissance instantanée:  </a:t>
            </a:r>
            <a:r>
              <a:rPr lang="fr-FR" sz="2200" dirty="0">
                <a:cs typeface="Arial" panose="020B0604020202020204" pitchFamily="34" charset="0"/>
              </a:rPr>
              <a:t>Etant donné un signal continu </a:t>
            </a:r>
            <a:r>
              <a:rPr lang="fr-FR" sz="2200" i="1" dirty="0">
                <a:cs typeface="Arial" panose="020B0604020202020204" pitchFamily="34" charset="0"/>
              </a:rPr>
              <a:t>x(t)</a:t>
            </a:r>
            <a:r>
              <a:rPr lang="fr-FR" sz="2200" dirty="0">
                <a:cs typeface="Arial" panose="020B0604020202020204" pitchFamily="34" charset="0"/>
              </a:rPr>
              <a:t>, on appelle </a:t>
            </a:r>
            <a:r>
              <a:rPr lang="fr-FR" sz="2200" dirty="0">
                <a:solidFill>
                  <a:srgbClr val="343C88"/>
                </a:solidFill>
                <a:cs typeface="Arial" panose="020B0604020202020204" pitchFamily="34" charset="0"/>
              </a:rPr>
              <a:t>puissance instantanée</a:t>
            </a:r>
            <a:r>
              <a:rPr lang="fr-FR" sz="2200" dirty="0">
                <a:cs typeface="Arial" panose="020B0604020202020204" pitchFamily="34" charset="0"/>
              </a:rPr>
              <a:t> la quantité </a:t>
            </a:r>
            <a:r>
              <a:rPr lang="fr-FR" sz="2200" i="1" dirty="0">
                <a:solidFill>
                  <a:srgbClr val="FF0000"/>
                </a:solidFill>
                <a:cs typeface="Arial" panose="020B0604020202020204" pitchFamily="34" charset="0"/>
              </a:rPr>
              <a:t>|x(t)|</a:t>
            </a:r>
            <a:r>
              <a:rPr lang="fr-FR" sz="2200" i="1" baseline="30000" dirty="0">
                <a:solidFill>
                  <a:srgbClr val="FF0000"/>
                </a:solidFill>
                <a:cs typeface="Arial" panose="020B0604020202020204" pitchFamily="34" charset="0"/>
              </a:rPr>
              <a:t>2</a:t>
            </a:r>
            <a:endParaRPr lang="fr-FR" sz="2200" i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just"/>
            <a:r>
              <a:rPr lang="fr-FR" sz="2200" b="1" u="sng" dirty="0">
                <a:cs typeface="Arial" panose="020B0604020202020204" pitchFamily="34" charset="0"/>
              </a:rPr>
              <a:t> </a:t>
            </a:r>
            <a:endParaRPr lang="fr-FR" sz="2200" i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 Classification énergétique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11760" y="2382448"/>
            <a:ext cx="4320480" cy="4053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7544" y="1340768"/>
            <a:ext cx="828092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200" b="1" dirty="0">
                <a:solidFill>
                  <a:srgbClr val="FF3300"/>
                </a:solidFill>
                <a:cs typeface="Arial" panose="020B0604020202020204" pitchFamily="34" charset="0"/>
              </a:rPr>
              <a:t>Energie totale</a:t>
            </a:r>
            <a:r>
              <a:rPr lang="fr-FR" sz="2200" dirty="0">
                <a:solidFill>
                  <a:srgbClr val="FF3300"/>
                </a:solidFill>
                <a:cs typeface="Arial" panose="020B0604020202020204" pitchFamily="34" charset="0"/>
              </a:rPr>
              <a:t>: </a:t>
            </a:r>
            <a:r>
              <a:rPr lang="fr-FR" sz="2200" dirty="0">
                <a:cs typeface="Arial" panose="020B0604020202020204" pitchFamily="34" charset="0"/>
              </a:rPr>
              <a:t>L’</a:t>
            </a:r>
            <a:r>
              <a:rPr lang="fr-FR" sz="2200" dirty="0">
                <a:solidFill>
                  <a:srgbClr val="343C88"/>
                </a:solidFill>
                <a:cs typeface="Arial" panose="020B0604020202020204" pitchFamily="34" charset="0"/>
              </a:rPr>
              <a:t>énergie totale </a:t>
            </a:r>
            <a:r>
              <a:rPr lang="fr-FR" sz="2200" i="1" dirty="0">
                <a:cs typeface="Arial" panose="020B0604020202020204" pitchFamily="34" charset="0"/>
              </a:rPr>
              <a:t>E</a:t>
            </a:r>
            <a:r>
              <a:rPr lang="fr-FR" sz="2200" i="1" baseline="-25000" dirty="0">
                <a:cs typeface="Arial" panose="020B0604020202020204" pitchFamily="34" charset="0"/>
              </a:rPr>
              <a:t>x</a:t>
            </a:r>
            <a:r>
              <a:rPr lang="fr-FR" sz="2200" dirty="0">
                <a:cs typeface="Arial" panose="020B0604020202020204" pitchFamily="34" charset="0"/>
              </a:rPr>
              <a:t> correspond à la </a:t>
            </a:r>
            <a:r>
              <a:rPr lang="fr-FR" sz="2200" dirty="0">
                <a:solidFill>
                  <a:srgbClr val="343C88"/>
                </a:solidFill>
                <a:cs typeface="Arial" panose="020B0604020202020204" pitchFamily="34" charset="0"/>
              </a:rPr>
              <a:t>somme de la puissance instantanée</a:t>
            </a:r>
            <a:r>
              <a:rPr lang="fr-FR" sz="2200" dirty="0">
                <a:cs typeface="Arial" panose="020B0604020202020204" pitchFamily="34" charset="0"/>
              </a:rPr>
              <a:t> sur </a:t>
            </a:r>
            <a:r>
              <a:rPr lang="fr-FR" sz="2200" dirty="0">
                <a:ea typeface="Cambria Math" panose="02040503050406030204"/>
                <a:cs typeface="Arial" panose="020B0604020202020204" pitchFamily="34" charset="0"/>
              </a:rPr>
              <a:t>ℝ.</a:t>
            </a:r>
            <a:r>
              <a:rPr lang="fr-FR" sz="2200" dirty="0">
                <a:cs typeface="Arial" panose="020B0604020202020204" pitchFamily="34" charset="0"/>
              </a:rPr>
              <a:t> </a:t>
            </a:r>
            <a:endParaRPr lang="fr-FR" sz="2200" dirty="0">
              <a:cs typeface="Arial" panose="020B0604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5535" y="2636911"/>
            <a:ext cx="4320481" cy="3744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 Classification énergétique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/>
              <p:cNvSpPr txBox="1"/>
              <p:nvPr/>
            </p:nvSpPr>
            <p:spPr>
              <a:xfrm>
                <a:off x="5220072" y="3500531"/>
                <a:ext cx="3274429" cy="8163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3500531"/>
                <a:ext cx="3274429" cy="816377"/>
              </a:xfrm>
              <a:prstGeom prst="rect">
                <a:avLst/>
              </a:prstGeom>
              <a:blipFill rotWithShape="1">
                <a:blip r:embed="rId2"/>
                <a:stretch>
                  <a:fillRect l="-11" t="-50" r="3" b="2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7544" y="1340768"/>
            <a:ext cx="828092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200" b="1" dirty="0">
                <a:solidFill>
                  <a:srgbClr val="FF0000"/>
                </a:solidFill>
                <a:cs typeface="Arial" panose="020B0604020202020204" pitchFamily="34" charset="0"/>
              </a:rPr>
              <a:t>Puissance moyenne</a:t>
            </a:r>
            <a:r>
              <a:rPr lang="fr-FR" sz="2200" dirty="0">
                <a:solidFill>
                  <a:srgbClr val="FF0000"/>
                </a:solidFill>
                <a:cs typeface="Arial" panose="020B0604020202020204" pitchFamily="34" charset="0"/>
              </a:rPr>
              <a:t>: </a:t>
            </a:r>
            <a:r>
              <a:rPr lang="fr-FR" sz="2200" dirty="0">
                <a:cs typeface="Arial" panose="020B0604020202020204" pitchFamily="34" charset="0"/>
              </a:rPr>
              <a:t>La puissance moyenne (totale) </a:t>
            </a:r>
            <a:r>
              <a:rPr lang="fr-FR" sz="2200" i="1" dirty="0">
                <a:cs typeface="Arial" panose="020B0604020202020204" pitchFamily="34" charset="0"/>
              </a:rPr>
              <a:t>P</a:t>
            </a:r>
            <a:r>
              <a:rPr lang="fr-FR" sz="2200" i="1" baseline="-25000" dirty="0">
                <a:cs typeface="Arial" panose="020B0604020202020204" pitchFamily="34" charset="0"/>
              </a:rPr>
              <a:t>x</a:t>
            </a:r>
            <a:r>
              <a:rPr lang="fr-FR" sz="2200" dirty="0">
                <a:cs typeface="Arial" panose="020B0604020202020204" pitchFamily="34" charset="0"/>
              </a:rPr>
              <a:t> correspond à la valeur </a:t>
            </a:r>
            <a:r>
              <a:rPr lang="fr-FR" sz="2200" dirty="0">
                <a:solidFill>
                  <a:srgbClr val="343C88"/>
                </a:solidFill>
                <a:cs typeface="Arial" panose="020B0604020202020204" pitchFamily="34" charset="0"/>
              </a:rPr>
              <a:t>moyenne de la puissance instantanée</a:t>
            </a:r>
            <a:r>
              <a:rPr lang="fr-FR" sz="22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fr-FR" sz="2200" dirty="0">
                <a:cs typeface="Arial" panose="020B0604020202020204" pitchFamily="34" charset="0"/>
              </a:rPr>
              <a:t>sur </a:t>
            </a:r>
            <a:r>
              <a:rPr lang="fr-FR" sz="2200" dirty="0">
                <a:ea typeface="Cambria Math" panose="02040503050406030204"/>
                <a:cs typeface="Arial" panose="020B0604020202020204" pitchFamily="34" charset="0"/>
              </a:rPr>
              <a:t>ℝ.</a:t>
            </a:r>
            <a:r>
              <a:rPr lang="fr-FR" sz="2200" dirty="0">
                <a:cs typeface="Arial" panose="020B0604020202020204" pitchFamily="34" charset="0"/>
              </a:rPr>
              <a:t> </a:t>
            </a:r>
            <a:endParaRPr lang="fr-FR" sz="2200" dirty="0">
              <a:cs typeface="Arial" panose="020B0604020202020204" pitchFamily="34" charset="0"/>
            </a:endParaRPr>
          </a:p>
          <a:p>
            <a:pPr algn="just"/>
            <a:endParaRPr lang="fr-FR" sz="2200" dirty="0">
              <a:cs typeface="Arial" panose="020B0604020202020204" pitchFamily="34" charset="0"/>
            </a:endParaRPr>
          </a:p>
          <a:p>
            <a:pPr algn="just"/>
            <a:endParaRPr lang="fr-FR" sz="2200" dirty="0">
              <a:cs typeface="Arial" panose="020B0604020202020204" pitchFamily="34" charset="0"/>
            </a:endParaRPr>
          </a:p>
          <a:p>
            <a:pPr algn="just"/>
            <a:endParaRPr lang="fr-FR" sz="2200" dirty="0">
              <a:cs typeface="Arial" panose="020B0604020202020204" pitchFamily="34" charset="0"/>
            </a:endParaRPr>
          </a:p>
          <a:p>
            <a:pPr algn="just"/>
            <a:endParaRPr lang="fr-FR" sz="2200" dirty="0">
              <a:cs typeface="Arial" panose="020B0604020202020204" pitchFamily="34" charset="0"/>
            </a:endParaRPr>
          </a:p>
          <a:p>
            <a:pPr algn="just"/>
            <a:endParaRPr lang="fr-FR" sz="2200" dirty="0">
              <a:cs typeface="Arial" panose="020B0604020202020204" pitchFamily="34" charset="0"/>
            </a:endParaRPr>
          </a:p>
          <a:p>
            <a:pPr algn="just"/>
            <a:endParaRPr lang="fr-FR" sz="2200" dirty="0">
              <a:cs typeface="Arial" panose="020B0604020202020204" pitchFamily="34" charset="0"/>
            </a:endParaRPr>
          </a:p>
          <a:p>
            <a:pPr algn="just"/>
            <a:endParaRPr lang="fr-FR" sz="2200" dirty="0"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2200" dirty="0">
                <a:cs typeface="Arial" panose="020B0604020202020204" pitchFamily="34" charset="0"/>
              </a:rPr>
              <a:t> Si le signal est à support </a:t>
            </a:r>
            <a:r>
              <a:rPr lang="fr-FR" sz="2200" dirty="0">
                <a:solidFill>
                  <a:srgbClr val="002060"/>
                </a:solidFill>
                <a:cs typeface="Arial" panose="020B0604020202020204" pitchFamily="34" charset="0"/>
              </a:rPr>
              <a:t>temporel borné</a:t>
            </a:r>
            <a:r>
              <a:rPr lang="fr-FR" sz="2200" dirty="0">
                <a:cs typeface="Arial" panose="020B0604020202020204" pitchFamily="34" charset="0"/>
              </a:rPr>
              <a:t>, sa </a:t>
            </a:r>
            <a:r>
              <a:rPr lang="fr-FR" sz="2200" dirty="0">
                <a:solidFill>
                  <a:srgbClr val="002060"/>
                </a:solidFill>
                <a:cs typeface="Arial" panose="020B0604020202020204" pitchFamily="34" charset="0"/>
              </a:rPr>
              <a:t>puissance moyenne </a:t>
            </a:r>
            <a:r>
              <a:rPr lang="fr-FR" sz="2200" dirty="0">
                <a:cs typeface="Arial" panose="020B0604020202020204" pitchFamily="34" charset="0"/>
              </a:rPr>
              <a:t>totale est donc </a:t>
            </a:r>
            <a:r>
              <a:rPr lang="fr-FR" sz="2200" dirty="0">
                <a:solidFill>
                  <a:srgbClr val="002060"/>
                </a:solidFill>
                <a:cs typeface="Arial" panose="020B0604020202020204" pitchFamily="34" charset="0"/>
              </a:rPr>
              <a:t>nulle</a:t>
            </a:r>
            <a:r>
              <a:rPr lang="fr-FR" sz="2200" dirty="0">
                <a:cs typeface="Arial" panose="020B0604020202020204" pitchFamily="34" charset="0"/>
              </a:rPr>
              <a:t>.</a:t>
            </a:r>
            <a:endParaRPr lang="fr-FR" sz="2200" dirty="0"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 Classification énergétique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/>
              <p:cNvSpPr txBox="1"/>
              <p:nvPr/>
            </p:nvSpPr>
            <p:spPr>
              <a:xfrm>
                <a:off x="2341866" y="2852936"/>
                <a:ext cx="4460267" cy="10923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→+∞</m:t>
                              </m:r>
                            </m:lim>
                          </m:limLow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</m:fName>
                        <m:e>
                          <m:f>
                            <m:f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  <m:nary>
                        <m:naryPr>
                          <m:ctrlP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sSup>
                            <m:sSup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866" y="2852936"/>
                <a:ext cx="4460267" cy="1092350"/>
              </a:xfrm>
              <a:prstGeom prst="rect">
                <a:avLst/>
              </a:prstGeom>
              <a:blipFill rotWithShape="1">
                <a:blip r:embed="rId1"/>
                <a:stretch>
                  <a:fillRect l="-14" t="-47" b="-8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1560" y="1556792"/>
            <a:ext cx="8064896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fr-FR" sz="2200" dirty="0">
                <a:cs typeface="Arial" panose="020B0604020202020204" pitchFamily="34" charset="0"/>
              </a:rPr>
              <a:t>  Si </a:t>
            </a:r>
            <a:r>
              <a:rPr lang="fr-FR" sz="2200" i="1" dirty="0">
                <a:solidFill>
                  <a:srgbClr val="FF0000"/>
                </a:solidFill>
                <a:cs typeface="Arial" panose="020B0604020202020204" pitchFamily="34" charset="0"/>
              </a:rPr>
              <a:t>E</a:t>
            </a:r>
            <a:r>
              <a:rPr lang="fr-FR" sz="2200" i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x</a:t>
            </a:r>
            <a:r>
              <a:rPr lang="fr-FR" sz="2200" dirty="0">
                <a:solidFill>
                  <a:srgbClr val="FF0000"/>
                </a:solidFill>
                <a:cs typeface="Arial" panose="020B0604020202020204" pitchFamily="34" charset="0"/>
              </a:rPr>
              <a:t> &lt; +</a:t>
            </a:r>
            <a:r>
              <a:rPr lang="fr-FR" sz="2200" dirty="0">
                <a:solidFill>
                  <a:srgbClr val="FF0000"/>
                </a:solidFill>
                <a:ea typeface="Cambria Math" panose="02040503050406030204"/>
                <a:cs typeface="Arial" panose="020B0604020202020204" pitchFamily="34" charset="0"/>
              </a:rPr>
              <a:t>∞</a:t>
            </a:r>
            <a:r>
              <a:rPr lang="fr-FR" sz="2200" dirty="0">
                <a:cs typeface="Arial" panose="020B0604020202020204" pitchFamily="34" charset="0"/>
              </a:rPr>
              <a:t>, on dit que le signal est à </a:t>
            </a:r>
            <a:r>
              <a:rPr lang="fr-FR" sz="2200" dirty="0">
                <a:solidFill>
                  <a:srgbClr val="FF0000"/>
                </a:solidFill>
                <a:cs typeface="Arial" panose="020B0604020202020204" pitchFamily="34" charset="0"/>
              </a:rPr>
              <a:t>énergie finie</a:t>
            </a:r>
            <a:r>
              <a:rPr lang="fr-FR" sz="2200" dirty="0">
                <a:cs typeface="Arial" panose="020B0604020202020204" pitchFamily="34" charset="0"/>
              </a:rPr>
              <a:t>. </a:t>
            </a:r>
            <a:endParaRPr lang="fr-FR" sz="2200" dirty="0">
              <a:cs typeface="Arial" panose="020B0604020202020204" pitchFamily="34" charset="0"/>
            </a:endParaRPr>
          </a:p>
          <a:p>
            <a:pPr algn="just"/>
            <a:r>
              <a:rPr lang="fr-FR" sz="2200" dirty="0">
                <a:cs typeface="Arial" panose="020B0604020202020204" pitchFamily="34" charset="0"/>
              </a:rPr>
              <a:t>En pratique, c’est le cas de tous les signaux physiquement réalisables. </a:t>
            </a:r>
            <a:endParaRPr lang="fr-FR" sz="2200" dirty="0">
              <a:cs typeface="Arial" panose="020B0604020202020204" pitchFamily="34" charset="0"/>
            </a:endParaRPr>
          </a:p>
          <a:p>
            <a:pPr algn="just"/>
            <a:endParaRPr lang="fr-FR" sz="2200" dirty="0">
              <a:cs typeface="Arial" panose="020B0604020202020204" pitchFamily="34" charset="0"/>
            </a:endParaRPr>
          </a:p>
          <a:p>
            <a:pPr algn="just"/>
            <a:r>
              <a:rPr lang="fr-FR" sz="2200" dirty="0">
                <a:cs typeface="Arial" panose="020B0604020202020204" pitchFamily="34" charset="0"/>
              </a:rPr>
              <a:t>Un signal à </a:t>
            </a:r>
            <a:r>
              <a:rPr lang="fr-FR" sz="2200" dirty="0">
                <a:solidFill>
                  <a:srgbClr val="0000FF"/>
                </a:solidFill>
                <a:cs typeface="Arial" panose="020B0604020202020204" pitchFamily="34" charset="0"/>
              </a:rPr>
              <a:t>énergie finie </a:t>
            </a:r>
            <a:r>
              <a:rPr lang="fr-FR" sz="2200" dirty="0">
                <a:cs typeface="Arial" panose="020B0604020202020204" pitchFamily="34" charset="0"/>
              </a:rPr>
              <a:t>a une </a:t>
            </a:r>
            <a:r>
              <a:rPr lang="fr-FR" sz="2200" dirty="0">
                <a:solidFill>
                  <a:srgbClr val="0000FF"/>
                </a:solidFill>
                <a:cs typeface="Arial" panose="020B0604020202020204" pitchFamily="34" charset="0"/>
              </a:rPr>
              <a:t>puissance moyenne totale nulle.</a:t>
            </a:r>
            <a:endParaRPr lang="fr-FR" sz="2200" dirty="0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2200" dirty="0"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2200" dirty="0"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2200" dirty="0">
                <a:cs typeface="Arial" panose="020B0604020202020204" pitchFamily="34" charset="0"/>
              </a:rPr>
              <a:t> Si </a:t>
            </a:r>
            <a:r>
              <a:rPr lang="fr-FR" sz="2200" i="1" dirty="0">
                <a:solidFill>
                  <a:srgbClr val="FF0000"/>
                </a:solidFill>
                <a:cs typeface="Arial" panose="020B0604020202020204" pitchFamily="34" charset="0"/>
              </a:rPr>
              <a:t>P</a:t>
            </a:r>
            <a:r>
              <a:rPr lang="fr-FR" sz="2200" i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x</a:t>
            </a:r>
            <a:r>
              <a:rPr lang="fr-FR" sz="2200" dirty="0">
                <a:solidFill>
                  <a:srgbClr val="FF0000"/>
                </a:solidFill>
                <a:cs typeface="Arial" panose="020B0604020202020204" pitchFamily="34" charset="0"/>
              </a:rPr>
              <a:t> &lt; +</a:t>
            </a:r>
            <a:r>
              <a:rPr lang="fr-FR" sz="2200" dirty="0">
                <a:solidFill>
                  <a:srgbClr val="FF0000"/>
                </a:solidFill>
                <a:ea typeface="Cambria Math" panose="02040503050406030204"/>
                <a:cs typeface="Arial" panose="020B0604020202020204" pitchFamily="34" charset="0"/>
              </a:rPr>
              <a:t> ∞</a:t>
            </a:r>
            <a:r>
              <a:rPr lang="fr-FR" sz="2200" dirty="0">
                <a:cs typeface="Arial" panose="020B0604020202020204" pitchFamily="34" charset="0"/>
              </a:rPr>
              <a:t>, on dit que le signal est à </a:t>
            </a:r>
            <a:r>
              <a:rPr lang="fr-FR" sz="2200" dirty="0">
                <a:solidFill>
                  <a:srgbClr val="FF0000"/>
                </a:solidFill>
                <a:cs typeface="Arial" panose="020B0604020202020204" pitchFamily="34" charset="0"/>
              </a:rPr>
              <a:t>puissance finie</a:t>
            </a:r>
            <a:r>
              <a:rPr lang="fr-FR" sz="2200" dirty="0">
                <a:cs typeface="Arial" panose="020B0604020202020204" pitchFamily="34" charset="0"/>
              </a:rPr>
              <a:t>. </a:t>
            </a:r>
            <a:endParaRPr lang="fr-FR" sz="2200" dirty="0">
              <a:cs typeface="Arial" panose="020B0604020202020204" pitchFamily="34" charset="0"/>
            </a:endParaRPr>
          </a:p>
          <a:p>
            <a:pPr algn="just"/>
            <a:r>
              <a:rPr lang="fr-FR" sz="2200" dirty="0">
                <a:cs typeface="Arial" panose="020B0604020202020204" pitchFamily="34" charset="0"/>
              </a:rPr>
              <a:t>Bien que ces signaux n’existent pas dans le monde réel, ils sont utiles pour construire des modèles étudiables. </a:t>
            </a:r>
            <a:endParaRPr lang="fr-FR" sz="2200" dirty="0">
              <a:cs typeface="Arial" panose="020B0604020202020204" pitchFamily="34" charset="0"/>
            </a:endParaRPr>
          </a:p>
          <a:p>
            <a:pPr algn="just"/>
            <a:endParaRPr lang="fr-FR" sz="2200" dirty="0">
              <a:cs typeface="Arial" panose="020B0604020202020204" pitchFamily="34" charset="0"/>
            </a:endParaRPr>
          </a:p>
          <a:p>
            <a:pPr algn="just"/>
            <a:r>
              <a:rPr lang="fr-FR" sz="2200" dirty="0">
                <a:cs typeface="Arial" panose="020B0604020202020204" pitchFamily="34" charset="0"/>
              </a:rPr>
              <a:t>Un signal de </a:t>
            </a:r>
            <a:r>
              <a:rPr lang="fr-FR" sz="2200" dirty="0">
                <a:solidFill>
                  <a:srgbClr val="0000FF"/>
                </a:solidFill>
                <a:cs typeface="Arial" panose="020B0604020202020204" pitchFamily="34" charset="0"/>
              </a:rPr>
              <a:t>puissance moyenne totale non nulle </a:t>
            </a:r>
            <a:r>
              <a:rPr lang="fr-FR" sz="2200" dirty="0">
                <a:cs typeface="Arial" panose="020B0604020202020204" pitchFamily="34" charset="0"/>
              </a:rPr>
              <a:t>est un signal  </a:t>
            </a:r>
            <a:r>
              <a:rPr lang="fr-FR" sz="2200" dirty="0">
                <a:solidFill>
                  <a:srgbClr val="0000FF"/>
                </a:solidFill>
                <a:cs typeface="Arial" panose="020B0604020202020204" pitchFamily="34" charset="0"/>
              </a:rPr>
              <a:t>d’énergie infinie.</a:t>
            </a:r>
            <a:endParaRPr lang="fr-FR" sz="220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 Classification énergétique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700809"/>
            <a:ext cx="8820472" cy="1676566"/>
          </a:xfrm>
        </p:spPr>
        <p:txBody>
          <a:bodyPr>
            <a:normAutofit/>
          </a:bodyPr>
          <a:lstStyle/>
          <a:p>
            <a:pPr lvl="1" eaLnBrk="1" hangingPunct="1">
              <a:buNone/>
            </a:pPr>
            <a:r>
              <a:rPr lang="fr-FR" dirty="0"/>
              <a:t>				            </a:t>
            </a:r>
            <a:endParaRPr lang="fr-FR" dirty="0"/>
          </a:p>
          <a:p>
            <a:pPr lvl="1" eaLnBrk="1" hangingPunct="1">
              <a:buNone/>
            </a:pPr>
            <a:r>
              <a:rPr lang="fr-FR" sz="2200" dirty="0"/>
              <a:t>    </a:t>
            </a:r>
            <a:endParaRPr lang="fr-FR" sz="22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fr-FR" dirty="0"/>
              <a:t>	</a:t>
            </a:r>
            <a:endParaRPr lang="fr-FR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0" y="1162968"/>
            <a:ext cx="9144000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FF0000"/>
                </a:solidFill>
                <a:cs typeface="Arial" panose="020B0604020202020204" pitchFamily="34" charset="0"/>
              </a:rPr>
              <a:t>  Cas des signaux périodiques:</a:t>
            </a:r>
            <a:endParaRPr lang="fr-FR" sz="24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just"/>
            <a:endParaRPr lang="fr-FR" sz="24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just"/>
            <a:r>
              <a:rPr lang="fr-FR" sz="2200" dirty="0"/>
              <a:t> </a:t>
            </a:r>
            <a:r>
              <a:rPr lang="fr-FR" sz="2100" dirty="0"/>
              <a:t>Un signal</a:t>
            </a:r>
            <a:r>
              <a:rPr lang="fr-FR" sz="2100" dirty="0">
                <a:solidFill>
                  <a:srgbClr val="343C88"/>
                </a:solidFill>
              </a:rPr>
              <a:t> </a:t>
            </a:r>
            <a:r>
              <a:rPr lang="fr-FR" sz="2100" i="1" dirty="0">
                <a:solidFill>
                  <a:srgbClr val="343C88"/>
                </a:solidFill>
              </a:rPr>
              <a:t>x(t)</a:t>
            </a:r>
            <a:r>
              <a:rPr lang="fr-FR" sz="2000" dirty="0"/>
              <a:t> est dit </a:t>
            </a:r>
            <a:r>
              <a:rPr lang="fr-FR" sz="2000" dirty="0">
                <a:solidFill>
                  <a:srgbClr val="505ABC"/>
                </a:solidFill>
              </a:rPr>
              <a:t>périodique</a:t>
            </a:r>
            <a:r>
              <a:rPr lang="fr-FR" sz="2000" dirty="0"/>
              <a:t> de période </a:t>
            </a:r>
            <a:r>
              <a:rPr lang="fr-FR" sz="2100" i="1" dirty="0">
                <a:solidFill>
                  <a:srgbClr val="343C88"/>
                </a:solidFill>
              </a:rPr>
              <a:t>T0</a:t>
            </a:r>
            <a:r>
              <a:rPr lang="fr-FR" sz="2200" dirty="0">
                <a:solidFill>
                  <a:srgbClr val="505ABC"/>
                </a:solidFill>
              </a:rPr>
              <a:t>, </a:t>
            </a:r>
            <a:r>
              <a:rPr lang="fr-FR" sz="2200" dirty="0"/>
              <a:t>si</a:t>
            </a:r>
            <a:endParaRPr lang="fr-FR" sz="2200" dirty="0">
              <a:latin typeface="+mj-lt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just"/>
            <a:r>
              <a:rPr lang="fr-FR" sz="2200" dirty="0">
                <a:latin typeface="+mj-lt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fr-FR" sz="2200" u="sng" dirty="0">
                <a:latin typeface="+mj-lt"/>
                <a:ea typeface="Cambria Math" panose="02040503050406030204" pitchFamily="18" charset="0"/>
                <a:cs typeface="Arial" panose="020B0604020202020204" pitchFamily="34" charset="0"/>
              </a:rPr>
              <a:t>Exemple de signaux périodiques</a:t>
            </a:r>
            <a:r>
              <a:rPr lang="fr-FR" sz="2200" dirty="0">
                <a:latin typeface="+mj-lt"/>
                <a:ea typeface="Cambria Math" panose="02040503050406030204" pitchFamily="18" charset="0"/>
                <a:cs typeface="Arial" panose="020B0604020202020204" pitchFamily="34" charset="0"/>
              </a:rPr>
              <a:t>:  sinus et cosinus</a:t>
            </a:r>
            <a:endParaRPr lang="fr-FR" sz="2200" dirty="0">
              <a:latin typeface="+mj-lt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just"/>
            <a:r>
              <a:rPr lang="fr-FR" sz="2200" dirty="0">
                <a:latin typeface="+mj-lt"/>
                <a:ea typeface="Cambria Math" panose="02040503050406030204" pitchFamily="18" charset="0"/>
                <a:cs typeface="Arial" panose="020B0604020202020204" pitchFamily="34" charset="0"/>
              </a:rPr>
              <a:t>					avec</a:t>
            </a:r>
            <a:endParaRPr lang="fr-FR" sz="2400" dirty="0">
              <a:solidFill>
                <a:srgbClr val="343C88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just"/>
            <a:endParaRPr lang="fr-FR" sz="22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just"/>
            <a:endParaRPr lang="fr-FR" sz="22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just"/>
            <a:endParaRPr lang="fr-FR" sz="22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just"/>
            <a:endParaRPr lang="fr-FR" sz="22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just"/>
            <a:endParaRPr lang="fr-FR" sz="22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just"/>
            <a:endParaRPr lang="fr-FR" sz="22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just"/>
            <a:endParaRPr lang="fr-FR" sz="22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just"/>
            <a:endParaRPr lang="fr-FR" sz="22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just"/>
            <a:endParaRPr lang="fr-FR" sz="22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just"/>
            <a:endParaRPr lang="fr-FR" sz="22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 Classification énergétique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11" y="3562297"/>
            <a:ext cx="8972550" cy="26479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5795335" y="1916832"/>
                <a:ext cx="30307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000" i="1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i="1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sz="20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fr-FR" sz="2000" i="1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fr-FR" sz="20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335" y="1916832"/>
                <a:ext cx="3030766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11" t="-100" r="8" b="11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822089" y="2624347"/>
                <a:ext cx="23314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000" i="1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200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20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20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fr-FR" sz="20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fr-FR" sz="2000" i="1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i="1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2000" i="1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20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089" y="2624347"/>
                <a:ext cx="2331471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2" t="-132" r="1" b="1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156176" y="2466863"/>
                <a:ext cx="1055032" cy="7244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i="1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20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2466863"/>
                <a:ext cx="1055032" cy="724494"/>
              </a:xfrm>
              <a:prstGeom prst="rect">
                <a:avLst/>
              </a:prstGeom>
              <a:blipFill rotWithShape="1">
                <a:blip r:embed="rId4"/>
                <a:stretch>
                  <a:fillRect l="-46" t="-72" r="14" b="6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28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07504" y="1196752"/>
                <a:ext cx="8856984" cy="3888432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fr-FR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Propriétés d’un signal périodique:   </a:t>
                </a:r>
                <a:endParaRPr lang="fr-FR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Un signal </a:t>
                </a:r>
                <a:r>
                  <a:rPr lang="fr-FR" sz="2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périodique</a:t>
                </a:r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continu a nécessairement un </a:t>
                </a:r>
                <a:r>
                  <a:rPr lang="fr-FR" sz="2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support </a:t>
                </a:r>
                <a:r>
                  <a:rPr lang="it-IT" sz="2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temporel non borné</a:t>
                </a:r>
                <a:r>
                  <a:rPr lang="it-IT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it-IT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buNone/>
                </a:pPr>
                <a:r>
                  <a:rPr lang="fr-FR" sz="20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Démonstration </a:t>
                </a: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fr-F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 signal se répète toutes les périodes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une infinité de fois</a:t>
                </a:r>
                <a:endParaRPr lang="fr-F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buNone/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</a:t>
                </a:r>
                <a:endParaRPr lang="fr-FR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fr-FR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Si un signal continu est périodique de </a:t>
                </a:r>
                <a:r>
                  <a:rPr lang="fr-FR" sz="21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période</a:t>
                </a:r>
                <a:r>
                  <a:rPr lang="fr-FR" sz="2100" i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2100" i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fr-FR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, alors il est aussi périodique de </a:t>
                </a:r>
                <a:r>
                  <a:rPr lang="fr-FR" sz="21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période</a:t>
                </a:r>
                <a:r>
                  <a:rPr lang="fr-FR" sz="2100" i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sz="2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2100" i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fr-FR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avec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fr-F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endParaRPr lang="fr-FR" sz="200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fr-FR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Etant donné un signal périodique, on appelle </a:t>
                </a:r>
                <a:r>
                  <a:rPr lang="fr-FR" sz="21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période fondamentale </a:t>
                </a:r>
                <a:r>
                  <a:rPr lang="fr-FR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et on note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4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2100" dirty="0">
                    <a:latin typeface="Arial" panose="020B0604020202020204" pitchFamily="34" charset="0"/>
                    <a:cs typeface="Arial" panose="020B0604020202020204" pitchFamily="34" charset="0"/>
                  </a:rPr>
                  <a:t>, la plus petite période du signal strictement positive:</a:t>
                </a:r>
                <a:endParaRPr lang="fr-FR" sz="2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28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07504" y="1196752"/>
                <a:ext cx="8856984" cy="3888432"/>
              </a:xfrm>
              <a:blipFill rotWithShape="1">
                <a:blip r:embed="rId1"/>
                <a:stretch>
                  <a:fillRect l="-2" t="-11" r="2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9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0174" y="4823695"/>
            <a:ext cx="5403652" cy="165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 Classification énergétique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308885" y="1143000"/>
                <a:ext cx="8208912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2400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Cas des signaux périodiques</a:t>
                </a:r>
                <a:endParaRPr lang="fr-FR" sz="240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  <a:p>
                <a:pPr algn="just"/>
                <a:endParaRPr lang="fr-FR" sz="22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fr-FR" sz="2200" dirty="0">
                    <a:cs typeface="Arial" panose="020B0604020202020204" pitchFamily="34" charset="0"/>
                  </a:rPr>
                  <a:t>On a déjà vu qu’un signal périodique se répliquait une infinité de fois, il est donc nécessairement </a:t>
                </a:r>
                <a:r>
                  <a:rPr lang="fr-FR" sz="2200" dirty="0">
                    <a:solidFill>
                      <a:srgbClr val="0000FF"/>
                    </a:solidFill>
                    <a:cs typeface="Arial" panose="020B0604020202020204" pitchFamily="34" charset="0"/>
                  </a:rPr>
                  <a:t>d’énergie infinie.</a:t>
                </a:r>
                <a:endParaRPr lang="fr-FR" sz="2200" dirty="0">
                  <a:solidFill>
                    <a:srgbClr val="0000FF"/>
                  </a:solidFill>
                  <a:cs typeface="Arial" panose="020B0604020202020204" pitchFamily="34" charset="0"/>
                </a:endParaRPr>
              </a:p>
              <a:p>
                <a:pPr algn="just"/>
                <a:endParaRPr lang="fr-FR" sz="2200" dirty="0">
                  <a:cs typeface="Arial" panose="020B0604020202020204" pitchFamily="34" charset="0"/>
                </a:endParaRP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fr-FR" sz="2200" dirty="0">
                    <a:cs typeface="Arial" panose="020B0604020202020204" pitchFamily="34" charset="0"/>
                  </a:rPr>
                  <a:t>  un signal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2200" dirty="0">
                    <a:cs typeface="Arial" panose="020B0604020202020204" pitchFamily="34" charset="0"/>
                  </a:rPr>
                  <a:t> est périodique de période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2200" dirty="0">
                    <a:cs typeface="Arial" panose="020B0604020202020204" pitchFamily="34" charset="0"/>
                  </a:rPr>
                  <a:t>, alors</a:t>
                </a:r>
                <a:r>
                  <a:rPr lang="fr-FR" sz="2200" dirty="0">
                    <a:solidFill>
                      <a:srgbClr val="0000FF"/>
                    </a:solidFill>
                    <a:cs typeface="Arial" panose="020B0604020202020204" pitchFamily="34" charset="0"/>
                  </a:rPr>
                  <a:t> sa puissance moyenne</a:t>
                </a:r>
                <a:r>
                  <a:rPr lang="fr-FR" sz="2200" dirty="0">
                    <a:cs typeface="Arial" panose="020B0604020202020204" pitchFamily="34" charset="0"/>
                  </a:rPr>
                  <a:t> est définie par:  </a:t>
                </a:r>
                <a:endParaRPr lang="fr-FR" sz="2200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85" y="1143000"/>
                <a:ext cx="8208912" cy="2585323"/>
              </a:xfrm>
              <a:prstGeom prst="rect">
                <a:avLst/>
              </a:prstGeom>
              <a:blipFill rotWithShape="1">
                <a:blip r:embed="rId1"/>
                <a:stretch>
                  <a:fillRect l="-3" r="7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 Classification énergétique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/>
              <p:cNvSpPr txBox="1"/>
              <p:nvPr/>
            </p:nvSpPr>
            <p:spPr>
              <a:xfrm>
                <a:off x="2183207" y="3851667"/>
                <a:ext cx="4460267" cy="8631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</m:fName>
                        <m:e>
                          <m:f>
                            <m:fPr>
                              <m:ctrlP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nary>
                        <m:nary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207" y="3851667"/>
                <a:ext cx="4460267" cy="863121"/>
              </a:xfrm>
              <a:prstGeom prst="rect">
                <a:avLst/>
              </a:prstGeom>
              <a:blipFill rotWithShape="1">
                <a:blip r:embed="rId2"/>
                <a:stretch>
                  <a:fillRect l="-2" t="-45" r="2" b="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1700808"/>
            <a:ext cx="8496944" cy="4681537"/>
          </a:xfrm>
        </p:spPr>
        <p:txBody>
          <a:bodyPr>
            <a:normAutofit/>
          </a:bodyPr>
          <a:lstStyle/>
          <a:p>
            <a:pPr lvl="1" eaLnBrk="1" hangingPunct="1">
              <a:buNone/>
            </a:pPr>
            <a:endParaRPr lang="fr-FR" dirty="0"/>
          </a:p>
          <a:p>
            <a:pPr lvl="1" eaLnBrk="1" hangingPunct="1">
              <a:buNone/>
            </a:pPr>
            <a:r>
              <a:rPr lang="fr-FR" dirty="0"/>
              <a:t>				            </a:t>
            </a:r>
            <a:endParaRPr lang="fr-FR" dirty="0"/>
          </a:p>
          <a:p>
            <a:pPr lvl="1" eaLnBrk="1" hangingPunct="1">
              <a:buNone/>
            </a:pPr>
            <a:r>
              <a:rPr lang="fr-FR" sz="2200" dirty="0"/>
              <a:t>    </a:t>
            </a:r>
            <a:endParaRPr lang="fr-FR" sz="22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fr-FR" dirty="0"/>
              <a:t>	</a:t>
            </a:r>
            <a:endParaRPr lang="fr-FR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-180340" y="978535"/>
                <a:ext cx="9255125" cy="526669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just"/>
                <a:endParaRPr lang="fr-FR" sz="2000" dirty="0">
                  <a:latin typeface="+mj-lt"/>
                  <a:cs typeface="Arial" panose="020B0604020202020204" pitchFamily="34" charset="0"/>
                </a:endParaRPr>
              </a:p>
              <a:p>
                <a:pPr marL="800100" lvl="1" indent="-342900"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fr-FR" sz="2400" dirty="0">
                    <a:latin typeface="+mj-lt"/>
                  </a:rPr>
                  <a:t>Les </a:t>
                </a:r>
                <a:r>
                  <a:rPr lang="en-US" altLang="fr-FR" sz="2400" dirty="0" err="1">
                    <a:latin typeface="+mj-lt"/>
                  </a:rPr>
                  <a:t>signaux</a:t>
                </a:r>
                <a:r>
                  <a:rPr lang="en-US" altLang="fr-FR" sz="2400" b="1" dirty="0">
                    <a:latin typeface="+mj-lt"/>
                  </a:rPr>
                  <a:t> </a:t>
                </a:r>
                <a:r>
                  <a:rPr lang="en-US" altLang="fr-FR" sz="2400" dirty="0">
                    <a:solidFill>
                      <a:srgbClr val="FF0000"/>
                    </a:solidFill>
                    <a:latin typeface="+mj-lt"/>
                  </a:rPr>
                  <a:t>à </a:t>
                </a:r>
                <a:r>
                  <a:rPr lang="en-US" altLang="fr-FR" sz="2400" dirty="0" err="1">
                    <a:solidFill>
                      <a:srgbClr val="FF0000"/>
                    </a:solidFill>
                    <a:latin typeface="+mj-lt"/>
                  </a:rPr>
                  <a:t>énergie</a:t>
                </a:r>
                <a:r>
                  <a:rPr lang="en-US" altLang="fr-FR" sz="24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altLang="fr-FR" sz="2400" dirty="0" err="1">
                    <a:solidFill>
                      <a:srgbClr val="FF0000"/>
                    </a:solidFill>
                    <a:latin typeface="+mj-lt"/>
                  </a:rPr>
                  <a:t>finie</a:t>
                </a:r>
                <a:endParaRPr lang="en-US" altLang="fr-FR" sz="2400" dirty="0">
                  <a:solidFill>
                    <a:srgbClr val="FF0000"/>
                  </a:solidFill>
                  <a:latin typeface="+mj-lt"/>
                </a:endParaRPr>
              </a:p>
              <a:p>
                <a:pPr marL="800100" lvl="1" indent="-342900"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endParaRPr lang="en-US" altLang="fr-FR" sz="2400" dirty="0">
                  <a:solidFill>
                    <a:srgbClr val="343C88"/>
                  </a:solidFill>
                  <a:latin typeface="+mj-lt"/>
                </a:endParaRPr>
              </a:p>
              <a:p>
                <a:pPr lvl="1">
                  <a:lnSpc>
                    <a:spcPct val="150000"/>
                  </a:lnSpc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fr-FR" sz="2000" dirty="0">
                    <a:latin typeface="+mj-lt"/>
                  </a:rPr>
                  <a:t> -  les </a:t>
                </a:r>
                <a:r>
                  <a:rPr lang="en-US" altLang="fr-FR" sz="2000" dirty="0" err="1">
                    <a:latin typeface="+mj-lt"/>
                  </a:rPr>
                  <a:t>signaux</a:t>
                </a:r>
                <a:r>
                  <a:rPr lang="en-US" altLang="fr-FR" sz="2000" dirty="0">
                    <a:latin typeface="+mj-lt"/>
                  </a:rPr>
                  <a:t> </a:t>
                </a:r>
                <a:r>
                  <a:rPr lang="en-US" altLang="fr-FR" sz="2000" i="1" dirty="0" err="1">
                    <a:solidFill>
                      <a:srgbClr val="343C88"/>
                    </a:solidFill>
                    <a:latin typeface="+mj-lt"/>
                  </a:rPr>
                  <a:t>transitoires</a:t>
                </a:r>
                <a:endParaRPr lang="en-US" altLang="fr-FR" sz="2000" i="1" dirty="0">
                  <a:solidFill>
                    <a:srgbClr val="343C88"/>
                  </a:solidFill>
                  <a:latin typeface="+mj-lt"/>
                </a:endParaRPr>
              </a:p>
              <a:p>
                <a:pPr marL="365125" lvl="1" indent="-90805">
                  <a:lnSpc>
                    <a:spcPct val="150000"/>
                  </a:lnSpc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r>
                  <a:rPr lang="en-US" altLang="fr-FR" sz="2000" dirty="0">
                    <a:latin typeface="+mj-lt"/>
                  </a:rPr>
                  <a:t>    -  les </a:t>
                </a:r>
                <a:r>
                  <a:rPr lang="en-US" altLang="fr-FR" sz="2000" dirty="0" err="1">
                    <a:latin typeface="+mj-lt"/>
                  </a:rPr>
                  <a:t>signaux</a:t>
                </a:r>
                <a:r>
                  <a:rPr lang="en-US" altLang="fr-FR" sz="2000" dirty="0">
                    <a:latin typeface="+mj-lt"/>
                  </a:rPr>
                  <a:t> à </a:t>
                </a:r>
                <a:r>
                  <a:rPr lang="en-US" altLang="fr-FR" sz="2000" i="1" dirty="0">
                    <a:solidFill>
                      <a:srgbClr val="343C88"/>
                    </a:solidFill>
                    <a:latin typeface="+mj-lt"/>
                  </a:rPr>
                  <a:t>support temporal </a:t>
                </a:r>
                <a:r>
                  <a:rPr lang="en-US" altLang="fr-FR" sz="2000" i="1" dirty="0" err="1">
                    <a:solidFill>
                      <a:srgbClr val="343C88"/>
                    </a:solidFill>
                    <a:latin typeface="+mj-lt"/>
                  </a:rPr>
                  <a:t>borné</a:t>
                </a:r>
                <a:endParaRPr lang="en-US" altLang="fr-FR" sz="2000" i="1" dirty="0">
                  <a:solidFill>
                    <a:srgbClr val="343C88"/>
                  </a:solidFill>
                  <a:latin typeface="+mj-lt"/>
                </a:endParaRPr>
              </a:p>
              <a:p>
                <a:pPr lvl="1" indent="0">
                  <a:buClr>
                    <a:schemeClr val="folHlink"/>
                  </a:buClr>
                  <a:buFont typeface="Wingdings" panose="05000000000000000000" pitchFamily="2" charset="2"/>
                  <a:buNone/>
                </a:pPr>
                <a:endParaRPr lang="fr-FR" altLang="fr-FR" sz="2000" dirty="0">
                  <a:solidFill>
                    <a:schemeClr val="folHlink"/>
                  </a:solidFill>
                  <a:latin typeface="+mj-lt"/>
                  <a:sym typeface="Monotype Sorts" pitchFamily="2" charset="2"/>
                </a:endParaRPr>
              </a:p>
              <a:p>
                <a:pPr marL="800100" lvl="1" indent="-342900"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fr-FR" sz="2400" dirty="0">
                    <a:latin typeface="+mj-lt"/>
                  </a:rPr>
                  <a:t>Les </a:t>
                </a:r>
                <a:r>
                  <a:rPr lang="en-US" altLang="fr-FR" sz="2400" dirty="0" err="1">
                    <a:latin typeface="+mj-lt"/>
                  </a:rPr>
                  <a:t>signaux</a:t>
                </a:r>
                <a:r>
                  <a:rPr lang="en-US" altLang="fr-FR" sz="2400" b="1" dirty="0">
                    <a:latin typeface="+mj-lt"/>
                  </a:rPr>
                  <a:t> </a:t>
                </a:r>
                <a:r>
                  <a:rPr lang="en-US" altLang="fr-FR" sz="2400" dirty="0">
                    <a:solidFill>
                      <a:srgbClr val="FF0000"/>
                    </a:solidFill>
                    <a:latin typeface="+mj-lt"/>
                  </a:rPr>
                  <a:t>à </a:t>
                </a:r>
                <a:r>
                  <a:rPr lang="en-US" altLang="fr-FR" sz="2400" dirty="0" err="1">
                    <a:solidFill>
                      <a:srgbClr val="FF0000"/>
                    </a:solidFill>
                    <a:latin typeface="+mj-lt"/>
                  </a:rPr>
                  <a:t>énergie</a:t>
                </a:r>
                <a:r>
                  <a:rPr lang="en-US" altLang="fr-FR" sz="24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altLang="fr-FR" sz="2400" dirty="0" err="1">
                    <a:solidFill>
                      <a:srgbClr val="FF0000"/>
                    </a:solidFill>
                    <a:latin typeface="+mj-lt"/>
                  </a:rPr>
                  <a:t>infinie</a:t>
                </a:r>
                <a:endParaRPr lang="en-US" altLang="fr-FR" sz="2400" dirty="0">
                  <a:solidFill>
                    <a:srgbClr val="FF0000"/>
                  </a:solidFill>
                  <a:latin typeface="+mj-lt"/>
                </a:endParaRPr>
              </a:p>
              <a:p>
                <a:pPr lvl="1" indent="0">
                  <a:buClr>
                    <a:srgbClr val="FF0000"/>
                  </a:buClr>
                  <a:buFont typeface="Arial" panose="020B0604020202020204" pitchFamily="34" charset="0"/>
                  <a:buNone/>
                </a:pPr>
                <a:endParaRPr lang="en-US" altLang="fr-FR" sz="2400" dirty="0">
                  <a:solidFill>
                    <a:srgbClr val="FF0000"/>
                  </a:solidFill>
                  <a:latin typeface="+mj-lt"/>
                </a:endParaRPr>
              </a:p>
              <a:p>
                <a:pPr lvl="1">
                  <a:buClr>
                    <a:srgbClr val="FF0000"/>
                  </a:buClr>
                </a:pPr>
                <a:r>
                  <a:rPr lang="en-US" altLang="fr-FR" sz="2400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en-US" altLang="fr-FR" sz="2000" dirty="0">
                    <a:solidFill>
                      <a:srgbClr val="343C88"/>
                    </a:solidFill>
                    <a:latin typeface="+mj-lt"/>
                  </a:rPr>
                  <a:t>-  à puissance </a:t>
                </a:r>
                <a:r>
                  <a:rPr lang="en-US" altLang="fr-FR" sz="2000" dirty="0" err="1">
                    <a:solidFill>
                      <a:srgbClr val="343C88"/>
                    </a:solidFill>
                    <a:latin typeface="+mj-lt"/>
                  </a:rPr>
                  <a:t>moyenne</a:t>
                </a:r>
                <a:r>
                  <a:rPr lang="en-US" altLang="fr-FR" sz="2000" dirty="0">
                    <a:solidFill>
                      <a:srgbClr val="343C88"/>
                    </a:solidFill>
                    <a:latin typeface="+mj-lt"/>
                  </a:rPr>
                  <a:t> </a:t>
                </a:r>
                <a:r>
                  <a:rPr lang="en-US" altLang="fr-FR" sz="2000" dirty="0" err="1">
                    <a:solidFill>
                      <a:srgbClr val="343C88"/>
                    </a:solidFill>
                    <a:latin typeface="+mj-lt"/>
                  </a:rPr>
                  <a:t>finie</a:t>
                </a:r>
                <a:endParaRPr lang="en-US" altLang="fr-FR" sz="2000" dirty="0">
                  <a:solidFill>
                    <a:srgbClr val="343C88"/>
                  </a:solidFill>
                  <a:latin typeface="+mj-lt"/>
                </a:endParaRPr>
              </a:p>
              <a:p>
                <a:pPr lvl="1">
                  <a:buClr>
                    <a:srgbClr val="FF0000"/>
                  </a:buClr>
                </a:pPr>
                <a:r>
                  <a:rPr lang="en-US" altLang="fr-FR" sz="2000" dirty="0">
                    <a:solidFill>
                      <a:srgbClr val="343C88"/>
                    </a:solidFill>
                    <a:latin typeface="+mj-lt"/>
                  </a:rPr>
                  <a:t>       </a:t>
                </a:r>
                <a:r>
                  <a:rPr lang="en-US" altLang="fr-FR" sz="2000" dirty="0">
                    <a:latin typeface="+mj-lt"/>
                  </a:rPr>
                  <a:t>ex. les </a:t>
                </a:r>
                <a:r>
                  <a:rPr lang="en-US" altLang="fr-FR" sz="2000" dirty="0" err="1">
                    <a:latin typeface="+mj-lt"/>
                  </a:rPr>
                  <a:t>signaux</a:t>
                </a:r>
                <a:r>
                  <a:rPr lang="en-US" altLang="fr-FR" sz="2000" dirty="0">
                    <a:latin typeface="+mj-lt"/>
                  </a:rPr>
                  <a:t> </a:t>
                </a:r>
                <a:r>
                  <a:rPr lang="en-US" altLang="fr-FR" sz="2000" dirty="0" err="1">
                    <a:latin typeface="+mj-lt"/>
                  </a:rPr>
                  <a:t>périodiques</a:t>
                </a:r>
                <a:endParaRPr lang="en-US" altLang="fr-FR" sz="2000" dirty="0">
                  <a:latin typeface="+mj-lt"/>
                </a:endParaRPr>
              </a:p>
              <a:p>
                <a:pPr lvl="1">
                  <a:buClr>
                    <a:srgbClr val="FF0000"/>
                  </a:buClr>
                </a:pPr>
                <a:endParaRPr lang="en-US" altLang="fr-FR" sz="2000" dirty="0">
                  <a:latin typeface="+mj-lt"/>
                </a:endParaRPr>
              </a:p>
              <a:p>
                <a:pPr lvl="1">
                  <a:buClr>
                    <a:srgbClr val="FF0000"/>
                  </a:buClr>
                </a:pPr>
                <a:r>
                  <a:rPr lang="en-US" altLang="fr-FR" sz="2000" dirty="0">
                    <a:solidFill>
                      <a:srgbClr val="343C88"/>
                    </a:solidFill>
                    <a:latin typeface="+mj-lt"/>
                  </a:rPr>
                  <a:t> -  à puissance </a:t>
                </a:r>
                <a:r>
                  <a:rPr lang="en-US" altLang="fr-FR" sz="2000" dirty="0" err="1">
                    <a:solidFill>
                      <a:srgbClr val="343C88"/>
                    </a:solidFill>
                    <a:latin typeface="+mj-lt"/>
                  </a:rPr>
                  <a:t>moyenne</a:t>
                </a:r>
                <a:r>
                  <a:rPr lang="en-US" altLang="fr-FR" sz="2000" dirty="0">
                    <a:solidFill>
                      <a:srgbClr val="343C88"/>
                    </a:solidFill>
                    <a:latin typeface="+mj-lt"/>
                  </a:rPr>
                  <a:t> </a:t>
                </a:r>
                <a:r>
                  <a:rPr lang="en-US" altLang="fr-FR" sz="2000" dirty="0" err="1">
                    <a:solidFill>
                      <a:srgbClr val="343C88"/>
                    </a:solidFill>
                    <a:latin typeface="+mj-lt"/>
                  </a:rPr>
                  <a:t>infinie</a:t>
                </a:r>
                <a:endParaRPr lang="en-US" altLang="fr-FR" sz="2000" dirty="0">
                  <a:solidFill>
                    <a:srgbClr val="343C88"/>
                  </a:solidFill>
                  <a:latin typeface="+mj-lt"/>
                </a:endParaRPr>
              </a:p>
              <a:p>
                <a:pPr lvl="1">
                  <a:buFont typeface="Wingdings" panose="05000000000000000000" pitchFamily="2" charset="2"/>
                  <a:buNone/>
                </a:pPr>
                <a:r>
                  <a:rPr lang="en-US" altLang="fr-FR" sz="2000" dirty="0">
                    <a:latin typeface="+mj-lt"/>
                  </a:rPr>
                  <a:t>       ex. la </a:t>
                </a:r>
                <a:r>
                  <a:rPr lang="en-US" altLang="fr-FR" sz="2000" dirty="0" err="1">
                    <a:latin typeface="+mj-lt"/>
                  </a:rPr>
                  <a:t>rampe</a:t>
                </a:r>
                <a:r>
                  <a:rPr lang="en-US" altLang="fr-FR" sz="2000" dirty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altLang="fr-FR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fr-FR" altLang="fr-FR" sz="2000" dirty="0">
                  <a:solidFill>
                    <a:schemeClr val="folHlink"/>
                  </a:solidFill>
                  <a:latin typeface="+mj-lt"/>
                  <a:sym typeface="Monotype Sorts" pitchFamily="2" charset="2"/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340" y="978535"/>
                <a:ext cx="9255125" cy="526669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 Classification énergétique</a:t>
            </a:r>
            <a:endParaRPr lang="fr-FR" sz="28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08793" y="1519504"/>
            <a:ext cx="4235207" cy="1927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65533" y="3822193"/>
            <a:ext cx="4319155" cy="1886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117" y="15226"/>
            <a:ext cx="8229600" cy="719137"/>
          </a:xfrm>
        </p:spPr>
        <p:txBody>
          <a:bodyPr>
            <a:normAutofit/>
          </a:bodyPr>
          <a:lstStyle/>
          <a:p>
            <a:pPr eaLnBrk="1" hangingPunct="1"/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Propriétés d’un signal</a:t>
            </a:r>
            <a:endParaRPr lang="fr-FR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31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60000" y="1152000"/>
                <a:ext cx="8496944" cy="5327650"/>
              </a:xfrm>
            </p:spPr>
            <p:txBody>
              <a:bodyPr/>
              <a:lstStyle/>
              <a:p>
                <a:pPr marL="514350" indent="-514350" eaLnBrk="1" hangingPunct="1">
                  <a:buFont typeface="+mj-lt"/>
                  <a:buAutoNum type="arabicPeriod"/>
                </a:pPr>
                <a:r>
                  <a:rPr lang="fr-FR" sz="2400" dirty="0">
                    <a:solidFill>
                      <a:srgbClr val="FF0000"/>
                    </a:solidFill>
                  </a:rPr>
                  <a:t>Causalité</a:t>
                </a:r>
                <a:r>
                  <a:rPr lang="fr-FR" sz="2400" dirty="0">
                    <a:solidFill>
                      <a:srgbClr val="505ABC"/>
                    </a:solidFill>
                  </a:rPr>
                  <a:t> </a:t>
                </a:r>
                <a:endParaRPr lang="fr-FR" sz="2400" dirty="0">
                  <a:solidFill>
                    <a:srgbClr val="505ABC"/>
                  </a:solidFill>
                </a:endParaRPr>
              </a:p>
              <a:p>
                <a:pPr eaLnBrk="1" hangingPunct="1">
                  <a:buNone/>
                </a:pPr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Un signal </a:t>
                </a:r>
                <a14:m>
                  <m:oMath xmlns:m="http://schemas.openxmlformats.org/officeDocument/2006/math">
                    <m:r>
                      <a:rPr lang="fr-FR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</m:t>
                    </m:r>
                  </m:oMath>
                </a14:m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est dit </a:t>
                </a:r>
                <a:r>
                  <a:rPr lang="fr-FR" sz="2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causal</a:t>
                </a:r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si et seulement si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∀ 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endParaRPr lang="fr-FR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Signal causal                                  signal non causal</a:t>
                </a: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sz="1600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sz="1600" dirty="0"/>
              </a:p>
              <a:p>
                <a:pPr lvl="1" eaLnBrk="1" hangingPunct="1"/>
                <a:endParaRPr lang="fr-FR" sz="1600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</p:txBody>
          </p:sp>
        </mc:Choice>
        <mc:Fallback>
          <p:sp>
            <p:nvSpPr>
              <p:cNvPr id="22531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60000" y="1152000"/>
                <a:ext cx="8496944" cy="5327650"/>
              </a:xfrm>
              <a:blipFill rotWithShape="1">
                <a:blip r:embed="rId1"/>
                <a:stretch>
                  <a:fillRect l="-7" t="-2" r="7" b="-7098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324317"/>
            <a:ext cx="1872208" cy="1745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2276872"/>
            <a:ext cx="2160240" cy="1739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0216" y="4869160"/>
            <a:ext cx="449580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04048" y="4941168"/>
            <a:ext cx="3762375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4579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60000" y="1152000"/>
                <a:ext cx="8137525" cy="5327650"/>
              </a:xfrm>
            </p:spPr>
            <p:txBody>
              <a:bodyPr/>
              <a:lstStyle/>
              <a:p>
                <a:pPr marL="514350" indent="-514350" eaLnBrk="1" hangingPunct="1">
                  <a:buFont typeface="+mj-lt"/>
                  <a:buAutoNum type="arabicPeriod" startAt="2"/>
                </a:pPr>
                <a:r>
                  <a:rPr lang="fr-FR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Parité</a:t>
                </a:r>
                <a:r>
                  <a:rPr lang="fr-FR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fr-FR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/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Un signal </a:t>
                </a:r>
                <a14:m>
                  <m:oMath xmlns:m="http://schemas.openxmlformats.org/officeDocument/2006/math">
                    <m:r>
                      <a:rPr lang="fr-FR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est </a:t>
                </a:r>
                <a:r>
                  <a:rPr lang="fr-FR" sz="2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pair </a:t>
                </a:r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(−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fr-FR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/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/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/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Un signal </a:t>
                </a:r>
                <a14:m>
                  <m:oMath xmlns:m="http://schemas.openxmlformats.org/officeDocument/2006/math">
                    <m:r>
                      <a:rPr lang="fr-FR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est</a:t>
                </a:r>
                <a:r>
                  <a:rPr lang="fr-FR" sz="22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impair </a:t>
                </a:r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si 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=−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(−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fr-FR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/>
                <a:endParaRPr lang="fr-FR" dirty="0"/>
              </a:p>
              <a:p>
                <a:pPr lvl="1" eaLnBrk="1" hangingPunct="1">
                  <a:buNone/>
                </a:pPr>
                <a:r>
                  <a:rPr lang="fr-FR" dirty="0"/>
                  <a:t> </a:t>
                </a:r>
                <a:endParaRPr lang="fr-FR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sz="1600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sz="1600" dirty="0"/>
              </a:p>
              <a:p>
                <a:pPr lvl="1" eaLnBrk="1" hangingPunct="1"/>
                <a:endParaRPr lang="fr-FR" sz="1600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dirty="0"/>
              </a:p>
            </p:txBody>
          </p:sp>
        </mc:Choice>
        <mc:Fallback>
          <p:sp>
            <p:nvSpPr>
              <p:cNvPr id="24579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60000" y="1152000"/>
                <a:ext cx="8137525" cy="5327650"/>
              </a:xfrm>
              <a:blipFill rotWithShape="1">
                <a:blip r:embed="rId1"/>
                <a:stretch>
                  <a:fillRect l="-7" t="-2" r="7" b="-9478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748" y="2187116"/>
            <a:ext cx="314325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57512" y="4761830"/>
            <a:ext cx="322897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117" y="15226"/>
            <a:ext cx="8229600" cy="719137"/>
          </a:xfrm>
        </p:spPr>
        <p:txBody>
          <a:bodyPr>
            <a:normAutofit/>
          </a:bodyPr>
          <a:lstStyle/>
          <a:p>
            <a:pPr eaLnBrk="1" hangingPunct="1"/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Propriétés d’un signal</a:t>
            </a:r>
            <a:endParaRPr lang="fr-FR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60000" y="1152000"/>
            <a:ext cx="8137525" cy="5327650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rabicPeriod" startAt="2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Parité</a:t>
            </a:r>
            <a:r>
              <a:rPr lang="fr-FR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FR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fr-FR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fr-FR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fr-FR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fr-FR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fr-FR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fr-FR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fr-FR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fr-FR" sz="1600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fr-FR" sz="1600" dirty="0"/>
          </a:p>
          <a:p>
            <a:pPr lvl="1" eaLnBrk="1" hangingPunct="1"/>
            <a:endParaRPr lang="fr-FR" sz="1600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fr-FR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117" y="15226"/>
            <a:ext cx="8229600" cy="719137"/>
          </a:xfrm>
        </p:spPr>
        <p:txBody>
          <a:bodyPr>
            <a:normAutofit/>
          </a:bodyPr>
          <a:lstStyle/>
          <a:p>
            <a:pPr eaLnBrk="1" hangingPunct="1"/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Propriétés d’un signal</a:t>
            </a:r>
            <a:endParaRPr lang="fr-FR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3"/>
              <p:cNvSpPr txBox="1">
                <a:spLocks noChangeArrowheads="1"/>
              </p:cNvSpPr>
              <p:nvPr/>
            </p:nvSpPr>
            <p:spPr bwMode="auto">
              <a:xfrm>
                <a:off x="467544" y="2070253"/>
                <a:ext cx="4608511" cy="157477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>
                <a:normAutofit fontScale="92500" lnSpcReduction="10000"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algn="just">
                  <a:lnSpc>
                    <a:spcPct val="120000"/>
                  </a:lnSpc>
                  <a:buFontTx/>
                  <a:buNone/>
                </a:pPr>
                <a:r>
                  <a:rPr lang="fr-FR" sz="24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Tout signal réel </a:t>
                </a:r>
                <a14:m>
                  <m:oMath xmlns:m="http://schemas.openxmlformats.org/officeDocument/2006/math">
                    <m:r>
                      <a:rPr lang="fr-FR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fr-FR" sz="24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quelconque peut s’écrire sous forme de la  somme de deux signaux : un signal </a:t>
                </a:r>
                <a:r>
                  <a:rPr lang="fr-FR" sz="2400" b="1" kern="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pair</a:t>
                </a:r>
                <a:r>
                  <a:rPr lang="fr-FR" sz="2400" kern="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fr-FR" sz="24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et un signal </a:t>
                </a:r>
                <a:r>
                  <a:rPr lang="fr-FR" sz="2400" b="1" kern="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impair </a:t>
                </a:r>
                <a:r>
                  <a:rPr lang="fr-FR" sz="24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fr-FR" sz="2400" kern="0" dirty="0"/>
                  <a:t>    </a:t>
                </a:r>
                <a:endParaRPr lang="fr-FR" sz="2400" kern="0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kern="0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kern="0" dirty="0"/>
              </a:p>
              <a:p>
                <a:pPr lvl="1" eaLnBrk="1" hangingPunct="1">
                  <a:buFont typeface="Wingdings" panose="05000000000000000000" pitchFamily="2" charset="2"/>
                  <a:buNone/>
                </a:pPr>
                <a:endParaRPr lang="fr-FR" kern="0" dirty="0"/>
              </a:p>
            </p:txBody>
          </p:sp>
        </mc:Choice>
        <mc:Fallback>
          <p:sp>
            <p:nvSpPr>
              <p:cNvPr id="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2070253"/>
                <a:ext cx="4608511" cy="1574771"/>
              </a:xfrm>
              <a:prstGeom prst="rect">
                <a:avLst/>
              </a:prstGeom>
              <a:blipFill rotWithShape="1">
                <a:blip r:embed="rId1"/>
                <a:stretch>
                  <a:fillRect l="-4" t="-10" r="11" b="-79308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11193" y="1519505"/>
            <a:ext cx="2720405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867" y="4032940"/>
            <a:ext cx="6372200" cy="1148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Propriétés d’un signal</a:t>
            </a:r>
            <a:endParaRPr lang="en-US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 startAt="3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Transformations de la variable t</a:t>
            </a: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3"/>
          <p:cNvSpPr txBox="1"/>
          <p:nvPr/>
        </p:nvSpPr>
        <p:spPr>
          <a:xfrm>
            <a:off x="1475656" y="2091448"/>
            <a:ext cx="554671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200" dirty="0">
                <a:cs typeface="Arial" panose="020B0604020202020204" pitchFamily="34" charset="0"/>
              </a:rPr>
              <a:t>  </a:t>
            </a:r>
            <a:r>
              <a:rPr lang="fr-FR" sz="2200" dirty="0">
                <a:solidFill>
                  <a:srgbClr val="0000FF"/>
                </a:solidFill>
                <a:cs typeface="Arial" panose="020B0604020202020204" pitchFamily="34" charset="0"/>
              </a:rPr>
              <a:t>Retournement:   </a:t>
            </a:r>
            <a:r>
              <a:rPr lang="fr-FR" sz="2200" dirty="0">
                <a:cs typeface="Arial" panose="020B0604020202020204" pitchFamily="34" charset="0"/>
              </a:rPr>
              <a:t>symétrie par rapport à 0</a:t>
            </a:r>
            <a:endParaRPr lang="fr-FR" sz="2200" dirty="0"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2200" dirty="0">
              <a:cs typeface="Arial" panose="020B0604020202020204" pitchFamily="34" charset="0"/>
            </a:endParaRPr>
          </a:p>
          <a:p>
            <a:r>
              <a:rPr lang="fr-FR" sz="2200" dirty="0">
                <a:ea typeface="Cambria Math" panose="02040503050406030204" pitchFamily="18" charset="0"/>
                <a:cs typeface="Arial" panose="020B0604020202020204" pitchFamily="34" charset="0"/>
              </a:rPr>
              <a:t>                         x(t) → x(-t)  </a:t>
            </a:r>
            <a:endParaRPr lang="fr-FR" sz="2200" dirty="0"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7" name="Picture 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317" y="3267492"/>
            <a:ext cx="4464050" cy="330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Propriétés d’un signal</a:t>
            </a:r>
            <a:endParaRPr lang="en-US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B697E3-4789-4F0C-921E-AD82779A1BF3}" type="slidenum">
              <a:rPr lang="fr-FR" smtClean="0"/>
            </a:fld>
            <a:endParaRPr lang="fr-FR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 startAt="3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Transformations de la variable t</a:t>
            </a: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ZoneTexte 6"/>
          <p:cNvSpPr txBox="1"/>
          <p:nvPr/>
        </p:nvSpPr>
        <p:spPr>
          <a:xfrm>
            <a:off x="1691680" y="2081129"/>
            <a:ext cx="7063152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200" dirty="0">
                <a:cs typeface="Arial" panose="020B0604020202020204" pitchFamily="34" charset="0"/>
              </a:rPr>
              <a:t>  </a:t>
            </a:r>
            <a:r>
              <a:rPr lang="fr-FR" sz="2200" dirty="0">
                <a:solidFill>
                  <a:srgbClr val="0000FF"/>
                </a:solidFill>
                <a:cs typeface="Arial" panose="020B0604020202020204" pitchFamily="34" charset="0"/>
              </a:rPr>
              <a:t>Translation:   </a:t>
            </a:r>
            <a:r>
              <a:rPr lang="fr-FR" sz="2200" dirty="0">
                <a:cs typeface="Arial" panose="020B0604020202020204" pitchFamily="34" charset="0"/>
              </a:rPr>
              <a:t>de t</a:t>
            </a:r>
            <a:r>
              <a:rPr lang="fr-FR" sz="2200" baseline="-25000" dirty="0">
                <a:cs typeface="Arial" panose="020B0604020202020204" pitchFamily="34" charset="0"/>
              </a:rPr>
              <a:t>0</a:t>
            </a:r>
            <a:endParaRPr lang="fr-FR" sz="2200" baseline="-25000" dirty="0"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2200" dirty="0">
              <a:cs typeface="Arial" panose="020B0604020202020204" pitchFamily="34" charset="0"/>
            </a:endParaRPr>
          </a:p>
          <a:p>
            <a:r>
              <a:rPr lang="fr-FR" sz="2200" dirty="0">
                <a:ea typeface="Cambria Math" panose="02040503050406030204" pitchFamily="18" charset="0"/>
                <a:cs typeface="Arial" panose="020B0604020202020204" pitchFamily="34" charset="0"/>
              </a:rPr>
              <a:t>                     x(t) → x(t -</a:t>
            </a:r>
            <a:r>
              <a:rPr lang="fr-FR" sz="2200" dirty="0">
                <a:cs typeface="Arial" panose="020B0604020202020204" pitchFamily="34" charset="0"/>
              </a:rPr>
              <a:t> t</a:t>
            </a:r>
            <a:r>
              <a:rPr lang="fr-FR" sz="2200" baseline="-25000" dirty="0">
                <a:cs typeface="Arial" panose="020B0604020202020204" pitchFamily="34" charset="0"/>
              </a:rPr>
              <a:t>0</a:t>
            </a:r>
            <a:r>
              <a:rPr lang="fr-FR" sz="2200" dirty="0">
                <a:ea typeface="Cambria Math" panose="02040503050406030204" pitchFamily="18" charset="0"/>
                <a:cs typeface="Arial" panose="020B0604020202020204" pitchFamily="34" charset="0"/>
              </a:rPr>
              <a:t>)   </a:t>
            </a:r>
            <a:r>
              <a:rPr lang="fr-FR" sz="2200" dirty="0">
                <a:solidFill>
                  <a:srgbClr val="343C88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(décalage vers la droite)</a:t>
            </a:r>
            <a:endParaRPr lang="fr-FR" sz="2200" dirty="0">
              <a:solidFill>
                <a:srgbClr val="343C88"/>
              </a:solidFill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r>
              <a:rPr lang="fr-FR" sz="2200" dirty="0">
                <a:ea typeface="Cambria Math" panose="02040503050406030204" pitchFamily="18" charset="0"/>
                <a:cs typeface="Arial" panose="020B0604020202020204" pitchFamily="34" charset="0"/>
              </a:rPr>
              <a:t> 	         x(t) → x(t + </a:t>
            </a:r>
            <a:r>
              <a:rPr lang="fr-FR" sz="2200" dirty="0">
                <a:cs typeface="Arial" panose="020B0604020202020204" pitchFamily="34" charset="0"/>
              </a:rPr>
              <a:t>t</a:t>
            </a:r>
            <a:r>
              <a:rPr lang="fr-FR" sz="2200" baseline="-25000" dirty="0">
                <a:cs typeface="Arial" panose="020B0604020202020204" pitchFamily="34" charset="0"/>
              </a:rPr>
              <a:t>0</a:t>
            </a:r>
            <a:r>
              <a:rPr lang="fr-FR" sz="2200" dirty="0">
                <a:ea typeface="Cambria Math" panose="02040503050406030204" pitchFamily="18" charset="0"/>
                <a:cs typeface="Arial" panose="020B0604020202020204" pitchFamily="34" charset="0"/>
              </a:rPr>
              <a:t>)  </a:t>
            </a:r>
            <a:r>
              <a:rPr lang="fr-FR" sz="2200" dirty="0">
                <a:solidFill>
                  <a:srgbClr val="343C88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(décalage vers la gauche)</a:t>
            </a:r>
            <a:endParaRPr lang="fr-FR" sz="2200" dirty="0">
              <a:solidFill>
                <a:srgbClr val="343C88"/>
              </a:solidFill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endParaRPr lang="fr-FR" sz="2200" dirty="0"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88127" y="3951098"/>
            <a:ext cx="6911975" cy="2292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Propriétés d’un signal</a:t>
            </a:r>
            <a:endParaRPr lang="en-US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B697E3-4789-4F0C-921E-AD82779A1BF3}" type="slidenum">
              <a:rPr lang="fr-FR" smtClean="0"/>
            </a:fld>
            <a:endParaRPr lang="fr-FR" dirty="0"/>
          </a:p>
        </p:txBody>
      </p:sp>
      <p:sp>
        <p:nvSpPr>
          <p:cNvPr id="12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 startAt="3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Transformations de la variable t</a:t>
            </a: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ZoneTexte 8"/>
          <p:cNvSpPr txBox="1"/>
          <p:nvPr/>
        </p:nvSpPr>
        <p:spPr>
          <a:xfrm>
            <a:off x="1331640" y="2136338"/>
            <a:ext cx="684076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200" dirty="0">
                <a:solidFill>
                  <a:srgbClr val="0000FF"/>
                </a:solidFill>
                <a:cs typeface="Arial" panose="020B0604020202020204" pitchFamily="34" charset="0"/>
              </a:rPr>
              <a:t>  Changement  d’échelle: </a:t>
            </a:r>
            <a:r>
              <a:rPr lang="fr-FR" sz="2200" dirty="0">
                <a:ea typeface="Cambria Math" panose="02040503050406030204" pitchFamily="18" charset="0"/>
                <a:cs typeface="Arial" panose="020B0604020202020204" pitchFamily="34" charset="0"/>
              </a:rPr>
              <a:t>x(t) → x(at) </a:t>
            </a:r>
            <a:endParaRPr lang="fr-FR" sz="2200" dirty="0">
              <a:solidFill>
                <a:srgbClr val="0000FF"/>
              </a:solidFill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fr-FR" sz="2200" dirty="0">
              <a:cs typeface="Arial" panose="020B0604020202020204" pitchFamily="34" charset="0"/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00FF"/>
                </a:solidFill>
                <a:cs typeface="Arial" panose="020B0604020202020204" pitchFamily="34" charset="0"/>
              </a:rPr>
              <a:t>(a&gt;1)   </a:t>
            </a:r>
            <a:r>
              <a:rPr lang="fr-FR" sz="2200" b="1" dirty="0">
                <a:solidFill>
                  <a:srgbClr val="343C88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contraction</a:t>
            </a:r>
            <a:endParaRPr lang="fr-FR" sz="2200" b="1" dirty="0">
              <a:solidFill>
                <a:srgbClr val="343C88"/>
              </a:solidFill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fr-FR" sz="2200" b="1" dirty="0">
              <a:solidFill>
                <a:srgbClr val="343C88"/>
              </a:solidFill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00FF"/>
                </a:solidFill>
                <a:cs typeface="Arial" panose="020B0604020202020204" pitchFamily="34" charset="0"/>
              </a:rPr>
              <a:t>(a&lt;1) </a:t>
            </a:r>
            <a:r>
              <a:rPr lang="fr-FR" sz="2200" dirty="0">
                <a:ea typeface="Cambria Math" panose="02040503050406030204" pitchFamily="18" charset="0"/>
                <a:cs typeface="Arial" panose="020B0604020202020204" pitchFamily="34" charset="0"/>
              </a:rPr>
              <a:t>  </a:t>
            </a:r>
            <a:r>
              <a:rPr lang="fr-FR" sz="2200" b="1" dirty="0">
                <a:solidFill>
                  <a:srgbClr val="343C88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dilatation</a:t>
            </a:r>
            <a:endParaRPr lang="fr-FR" sz="2200" b="1" dirty="0">
              <a:solidFill>
                <a:srgbClr val="343C88"/>
              </a:solidFill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endParaRPr lang="fr-FR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fr-FR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88747" y="3993173"/>
            <a:ext cx="7095621" cy="2252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ZoneTexte 7"/>
          <p:cNvSpPr txBox="1"/>
          <p:nvPr/>
        </p:nvSpPr>
        <p:spPr>
          <a:xfrm>
            <a:off x="788746" y="6383933"/>
            <a:ext cx="7443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0" u="none" strike="noStrike" baseline="0" dirty="0">
                <a:solidFill>
                  <a:srgbClr val="424CAD"/>
                </a:solidFill>
                <a:latin typeface="Helvetica-Bold"/>
              </a:rPr>
              <a:t>Illustration</a:t>
            </a:r>
            <a:r>
              <a:rPr lang="fr-FR" sz="1800" b="0" i="0" u="none" strike="noStrike" baseline="0" dirty="0">
                <a:solidFill>
                  <a:srgbClr val="424CAD"/>
                </a:solidFill>
                <a:latin typeface="Helvetica" panose="020B0604020202020204" pitchFamily="34" charset="0"/>
              </a:rPr>
              <a:t>: </a:t>
            </a:r>
            <a:r>
              <a:rPr lang="fr-FR" sz="1800" b="0" i="0" u="none" strike="noStrike" baseline="0" dirty="0">
                <a:solidFill>
                  <a:srgbClr val="009A9A"/>
                </a:solidFill>
                <a:latin typeface="Helvetica" panose="020B0604020202020204" pitchFamily="34" charset="0"/>
              </a:rPr>
              <a:t>https://vincmazet.github.io/spetsi/dilatation.html</a:t>
            </a:r>
            <a:endParaRPr lang="fr-F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04735"/>
            <a:ext cx="8229600" cy="1143000"/>
          </a:xfrm>
        </p:spPr>
        <p:txBody>
          <a:bodyPr/>
          <a:lstStyle/>
          <a:p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Propriétés d’un signal</a:t>
            </a:r>
            <a:endParaRPr lang="en-US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B697E3-4789-4F0C-921E-AD82779A1BF3}" type="slidenum">
              <a:rPr lang="fr-FR" smtClean="0"/>
            </a:fld>
            <a:endParaRPr lang="fr-FR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idx="1"/>
          </p:nvPr>
        </p:nvSpPr>
        <p:spPr>
          <a:xfrm>
            <a:off x="483298" y="1269641"/>
            <a:ext cx="8229600" cy="4525963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 startAt="3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Transformations de la variable t</a:t>
            </a: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ZoneTexte 8"/>
          <p:cNvSpPr txBox="1"/>
          <p:nvPr/>
        </p:nvSpPr>
        <p:spPr>
          <a:xfrm>
            <a:off x="1153785" y="1836064"/>
            <a:ext cx="68407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200" dirty="0">
                <a:solidFill>
                  <a:srgbClr val="0000FF"/>
                </a:solidFill>
                <a:cs typeface="Arial" panose="020B0604020202020204" pitchFamily="34" charset="0"/>
              </a:rPr>
              <a:t>  Changement  d’échelle:</a:t>
            </a:r>
            <a:r>
              <a:rPr lang="fr-FR" sz="2200" dirty="0">
                <a:ea typeface="Cambria Math" panose="02040503050406030204" pitchFamily="18" charset="0"/>
                <a:cs typeface="Arial" panose="020B0604020202020204" pitchFamily="34" charset="0"/>
              </a:rPr>
              <a:t> x(t) → x(at) </a:t>
            </a:r>
            <a:endParaRPr lang="fr-FR" sz="2200" dirty="0">
              <a:solidFill>
                <a:srgbClr val="0000FF"/>
              </a:solidFill>
              <a:cs typeface="Arial" panose="020B0604020202020204" pitchFamily="34" charset="0"/>
            </a:endParaRPr>
          </a:p>
          <a:p>
            <a:endParaRPr lang="fr-FR" sz="2200" dirty="0">
              <a:cs typeface="Arial" panose="020B0604020202020204" pitchFamily="34" charset="0"/>
            </a:endParaRPr>
          </a:p>
          <a:p>
            <a:endParaRPr lang="fr-FR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fr-FR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343150"/>
            <a:ext cx="6696075" cy="414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ZoneTexte 7"/>
          <p:cNvSpPr txBox="1"/>
          <p:nvPr/>
        </p:nvSpPr>
        <p:spPr>
          <a:xfrm>
            <a:off x="788746" y="6383933"/>
            <a:ext cx="7443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0" u="none" strike="noStrike" baseline="0" dirty="0">
                <a:solidFill>
                  <a:srgbClr val="424CAD"/>
                </a:solidFill>
                <a:latin typeface="Helvetica-Bold"/>
              </a:rPr>
              <a:t>Illustration</a:t>
            </a:r>
            <a:r>
              <a:rPr lang="fr-FR" sz="1800" b="0" i="0" u="none" strike="noStrike" baseline="0" dirty="0">
                <a:solidFill>
                  <a:srgbClr val="424CAD"/>
                </a:solidFill>
                <a:latin typeface="Helvetica" panose="020B0604020202020204" pitchFamily="34" charset="0"/>
              </a:rPr>
              <a:t>: </a:t>
            </a:r>
            <a:r>
              <a:rPr lang="fr-FR" sz="1800" b="0" i="0" u="none" strike="noStrike" baseline="0" dirty="0">
                <a:solidFill>
                  <a:srgbClr val="009A9A"/>
                </a:solidFill>
                <a:latin typeface="Helvetica" panose="020B0604020202020204" pitchFamily="34" charset="0"/>
              </a:rPr>
              <a:t>https://vincmazet.github.io/spetsi/dilatation.html</a:t>
            </a:r>
            <a:endParaRPr lang="fr-FR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229600" cy="719137"/>
          </a:xfrm>
        </p:spPr>
        <p:txBody>
          <a:bodyPr>
            <a:normAutofit/>
          </a:bodyPr>
          <a:lstStyle/>
          <a:p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Quelques signaux élémentaires</a:t>
            </a:r>
            <a:endParaRPr lang="fr-FR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1145913"/>
            <a:ext cx="8137525" cy="532765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Sinusoïde</a:t>
            </a: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dirty="0">
                <a:solidFill>
                  <a:srgbClr val="FF0000"/>
                </a:solidFill>
              </a:rPr>
              <a:t> 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7544" y="2060848"/>
            <a:ext cx="4487677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2043" y="2060848"/>
            <a:ext cx="3891957" cy="3934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B697E3-4789-4F0C-921E-AD82779A1BF3}" type="slidenum">
              <a:rPr lang="fr-FR" smtClean="0"/>
            </a:fld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680043" y="6109911"/>
            <a:ext cx="806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u="none" strike="noStrike" baseline="0" dirty="0">
                <a:solidFill>
                  <a:srgbClr val="424CAD"/>
                </a:solidFill>
                <a:latin typeface="Helvetica-Bold"/>
              </a:rPr>
              <a:t>Illustration: </a:t>
            </a:r>
            <a:r>
              <a:rPr lang="fr-FR" sz="1800" b="0" i="0" u="none" strike="noStrike" baseline="0" dirty="0">
                <a:solidFill>
                  <a:srgbClr val="009A9A"/>
                </a:solidFill>
                <a:latin typeface="Helvetica" panose="020B0604020202020204" pitchFamily="34" charset="0"/>
              </a:rPr>
              <a:t>https://vincmazet.github.io/spetsi/sinus.html</a:t>
            </a:r>
            <a:endParaRPr lang="fr-F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4094" y="1155700"/>
            <a:ext cx="8137525" cy="532765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eriod" startAt="2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Sinus Cardinal</a:t>
            </a: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dirty="0">
                <a:solidFill>
                  <a:srgbClr val="FF0000"/>
                </a:solidFill>
              </a:rPr>
              <a:t> 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0672" y="4884634"/>
            <a:ext cx="8566128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cs typeface="Arial" panose="020B0604020202020204" pitchFamily="34" charset="0"/>
              </a:rPr>
              <a:t>Ce signal joue un rôle important en traitement du signal</a:t>
            </a:r>
            <a:endParaRPr lang="fr-FR" sz="2000" dirty="0">
              <a:cs typeface="Arial" panose="020B0604020202020204" pitchFamily="34" charset="0"/>
            </a:endParaRPr>
          </a:p>
          <a:p>
            <a:pPr marL="342900" indent="-342900" algn="just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Il </a:t>
            </a:r>
            <a:r>
              <a:rPr lang="fr-FR" sz="2000" dirty="0">
                <a:cs typeface="Arial" panose="020B0604020202020204" pitchFamily="34" charset="0"/>
              </a:rPr>
              <a:t>apparaîtra naturellement quand nous allons calculer des transformées de Fourier</a:t>
            </a:r>
            <a:endParaRPr lang="fr-FR" sz="2000" dirty="0"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2200" dirty="0"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B697E3-4789-4F0C-921E-AD82779A1BF3}" type="slidenum">
              <a:rPr lang="fr-FR" smtClean="0"/>
            </a:fld>
            <a:endParaRPr lang="fr-FR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229600" cy="719137"/>
          </a:xfrm>
        </p:spPr>
        <p:txBody>
          <a:bodyPr>
            <a:normAutofit/>
          </a:bodyPr>
          <a:lstStyle/>
          <a:p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Quelques signaux élémentaires</a:t>
            </a:r>
            <a:endParaRPr lang="fr-FR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2336" y="1823889"/>
            <a:ext cx="4241861" cy="19250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/>
              <p:cNvSpPr txBox="1"/>
              <p:nvPr/>
            </p:nvSpPr>
            <p:spPr>
              <a:xfrm>
                <a:off x="348609" y="2490956"/>
                <a:ext cx="4397020" cy="13589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𝑠𝑖𝑛𝑐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fr-FR" sz="2400" i="1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fr-FR" sz="2400" i="1" smtClean="0">
                                          <a:solidFill>
                                            <a:srgbClr val="343C8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fr-FR" sz="2400" i="0" smtClean="0">
                                          <a:solidFill>
                                            <a:srgbClr val="343C8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fr-FR" sz="2400" i="1" smtClean="0">
                                          <a:solidFill>
                                            <a:srgbClr val="343C88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fr-FR" sz="2400" b="0" i="1" smtClean="0">
                                          <a:solidFill>
                                            <a:srgbClr val="343C88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fr-FR" sz="2400" i="1" smtClean="0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2400" b="0" i="1" smtClean="0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sinon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2400" b="0" dirty="0">
                  <a:ea typeface="Cambria Math" panose="02040503050406030204" pitchFamily="18" charset="0"/>
                </a:endParaRPr>
              </a:p>
              <a:p>
                <a:endParaRPr lang="fr-FR" sz="2400" dirty="0"/>
              </a:p>
            </p:txBody>
          </p:sp>
        </mc:Choice>
        <mc:Fallback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9" y="2490956"/>
                <a:ext cx="4397020" cy="1358900"/>
              </a:xfrm>
              <a:prstGeom prst="rect">
                <a:avLst/>
              </a:prstGeom>
              <a:blipFill rotWithShape="1">
                <a:blip r:embed="rId2"/>
                <a:stretch>
                  <a:fillRect l="-14" t="-36" r="6" b="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5324" y="1155700"/>
            <a:ext cx="8779164" cy="532765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eriod" startAt="3"/>
            </a:pPr>
            <a:r>
              <a:rPr lang="fr-F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rectangulaire</a:t>
            </a:r>
            <a:endParaRPr lang="fr-F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dirty="0">
                <a:solidFill>
                  <a:srgbClr val="FF0000"/>
                </a:solidFill>
              </a:rPr>
              <a:t> </a:t>
            </a:r>
            <a:endParaRPr lang="fr-FR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2000" dirty="0"/>
              <a:t>On l’appelle aussi </a:t>
            </a:r>
            <a:r>
              <a:rPr lang="fr-FR" sz="2000" dirty="0">
                <a:solidFill>
                  <a:srgbClr val="343C88"/>
                </a:solidFill>
              </a:rPr>
              <a:t>signal porte</a:t>
            </a:r>
            <a:r>
              <a:rPr lang="fr-FR" sz="2000" dirty="0"/>
              <a:t>. Il sert de fonction de</a:t>
            </a:r>
            <a:r>
              <a:rPr lang="fr-FR" sz="2000" dirty="0">
                <a:solidFill>
                  <a:srgbClr val="343C88"/>
                </a:solidFill>
              </a:rPr>
              <a:t> fenêtrage </a:t>
            </a:r>
            <a:r>
              <a:rPr lang="fr-FR" sz="2000" dirty="0"/>
              <a:t>élémentaire.</a:t>
            </a:r>
            <a:endParaRPr lang="fr-FR" sz="2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B697E3-4789-4F0C-921E-AD82779A1BF3}" type="slidenum">
              <a:rPr lang="fr-FR" smtClean="0"/>
            </a:fld>
            <a:endParaRPr lang="fr-FR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229600" cy="719137"/>
          </a:xfrm>
        </p:spPr>
        <p:txBody>
          <a:bodyPr>
            <a:normAutofit/>
          </a:bodyPr>
          <a:lstStyle/>
          <a:p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Quelques signaux élémentaires</a:t>
            </a:r>
            <a:endParaRPr lang="fr-FR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687" y="1772816"/>
            <a:ext cx="4366313" cy="20467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/>
              <p:cNvSpPr txBox="1"/>
              <p:nvPr/>
            </p:nvSpPr>
            <p:spPr>
              <a:xfrm>
                <a:off x="201155" y="2492896"/>
                <a:ext cx="4397020" cy="1548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𝑟𝑒𝑐𝑡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si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fr-FR" sz="2400" b="0" i="1" smtClean="0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400" b="0" i="1" smtClean="0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2400" b="0" i="1" smtClean="0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fr-FR" sz="2400" b="0" i="1" smtClean="0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fr-FR" sz="24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24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2400" i="1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f>
                                <m:fPr>
                                  <m:ctrlPr>
                                    <a:rPr lang="fr-FR" sz="2400" i="1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400" i="1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fr-FR" sz="2400" i="1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sinon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2400" b="0" dirty="0">
                  <a:ea typeface="Cambria Math" panose="02040503050406030204" pitchFamily="18" charset="0"/>
                </a:endParaRPr>
              </a:p>
              <a:p>
                <a:endParaRPr lang="fr-FR" sz="2400" dirty="0"/>
              </a:p>
            </p:txBody>
          </p:sp>
        </mc:Choice>
        <mc:Fallback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55" y="2492896"/>
                <a:ext cx="4397020" cy="1548437"/>
              </a:xfrm>
              <a:prstGeom prst="rect">
                <a:avLst/>
              </a:prstGeom>
              <a:blipFill rotWithShape="1">
                <a:blip r:embed="rId2"/>
                <a:stretch>
                  <a:fillRect l="-11" t="-34" r="3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79512" y="1133288"/>
                <a:ext cx="8281541" cy="532765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ct val="90000"/>
                  </a:lnSpc>
                  <a:buFont typeface="+mj-lt"/>
                  <a:buAutoNum type="arabicPeriod" startAt="3"/>
                </a:pPr>
                <a:r>
                  <a:rPr lang="fr-FR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Signal rectangulaire</a:t>
                </a:r>
                <a:endParaRPr lang="fr-FR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fr-FR" sz="2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fr-FR" sz="2000" dirty="0">
                    <a:solidFill>
                      <a:srgbClr val="343C88"/>
                    </a:solidFill>
                    <a:latin typeface="+mj-lt"/>
                  </a:rPr>
                  <a:t>fenêtrage : </a:t>
                </a:r>
                <a:r>
                  <a:rPr lang="fr-FR" sz="2000" dirty="0">
                    <a:latin typeface="+mj-lt"/>
                  </a:rPr>
                  <a:t>s</a:t>
                </a:r>
                <a:r>
                  <a:rPr lang="fr-FR" sz="2000" dirty="0">
                    <a:latin typeface="+mj-lt"/>
                    <a:cs typeface="Arial" panose="020B0604020202020204" pitchFamily="34" charset="0"/>
                  </a:rPr>
                  <a:t>i on prend un signal quelconque </a:t>
                </a:r>
                <a14:m>
                  <m:oMath xmlns:m="http://schemas.openxmlformats.org/officeDocument/2006/math">
                    <m:r>
                      <a:rPr lang="fr-FR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fr-FR" sz="2000" dirty="0">
                    <a:latin typeface="+mj-lt"/>
                    <a:cs typeface="Arial" panose="020B0604020202020204" pitchFamily="34" charset="0"/>
                  </a:rPr>
                  <a:t>et qu’on le multiplie par un signal porte, cela revient à étudier le signal </a:t>
                </a:r>
                <a14:m>
                  <m:oMath xmlns:m="http://schemas.openxmlformats.org/officeDocument/2006/math">
                    <m:r>
                      <a:rPr lang="fr-FR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fr-FR" sz="2000" dirty="0">
                    <a:latin typeface="+mj-lt"/>
                    <a:cs typeface="Arial" panose="020B0604020202020204" pitchFamily="34" charset="0"/>
                  </a:rPr>
                  <a:t>uniquement sur le support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240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240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fr-FR" sz="24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fr-FR" sz="24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fr-FR" sz="24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fr-FR" sz="24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f>
                          <m:fPr>
                            <m:ctrlPr>
                              <a:rPr lang="fr-FR" sz="24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fr-FR" sz="24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fr-FR" sz="24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fr-FR" sz="2400" dirty="0">
                    <a:solidFill>
                      <a:srgbClr val="343C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79512" y="1133288"/>
                <a:ext cx="8281541" cy="5327650"/>
              </a:xfrm>
              <a:blipFill rotWithShape="1">
                <a:blip r:embed="rId1"/>
                <a:stretch>
                  <a:fillRect l="-5" t="-8" r="4" b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797113"/>
            <a:ext cx="8136904" cy="1664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B697E3-4789-4F0C-921E-AD82779A1BF3}" type="slidenum">
              <a:rPr lang="fr-FR" smtClean="0"/>
            </a:fld>
            <a:endParaRPr lang="fr-FR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229600" cy="719137"/>
          </a:xfrm>
        </p:spPr>
        <p:txBody>
          <a:bodyPr>
            <a:normAutofit/>
          </a:bodyPr>
          <a:lstStyle/>
          <a:p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Quelques signaux élémentaires</a:t>
            </a:r>
            <a:endParaRPr lang="fr-FR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3377" y="765175"/>
            <a:ext cx="8137525" cy="53276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90000"/>
              </a:lnSpc>
              <a:buFont typeface="+mj-lt"/>
              <a:buAutoNum type="arabicPeriod" startAt="4"/>
            </a:pPr>
            <a:r>
              <a:rPr lang="fr-FR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 triangulaire</a:t>
            </a:r>
            <a:endParaRPr lang="fr-FR" sz="2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fr-F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fr-F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fr-F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fr-F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fr-F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fr-FR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dirty="0">
                <a:solidFill>
                  <a:srgbClr val="FF0000"/>
                </a:solidFill>
              </a:rPr>
              <a:t> 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B697E3-4789-4F0C-921E-AD82779A1BF3}" type="slidenum">
              <a:rPr lang="fr-FR" smtClean="0"/>
            </a:fld>
            <a:endParaRPr lang="fr-FR" dirty="0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229600" cy="719137"/>
          </a:xfrm>
        </p:spPr>
        <p:txBody>
          <a:bodyPr>
            <a:normAutofit/>
          </a:bodyPr>
          <a:lstStyle/>
          <a:p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Quelques signaux élémentaires</a:t>
            </a:r>
            <a:endParaRPr lang="fr-FR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9492" y="2204864"/>
            <a:ext cx="4214508" cy="18959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173377" y="2944429"/>
                <a:ext cx="4978275" cy="916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t</m:t>
                      </m:r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𝑟𝑖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sz="2400" b="0" i="1" smtClean="0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400" b="0" i="1" smtClean="0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pour</m:t>
                              </m:r>
                              <m: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sz="2400" b="0" i="1" smtClean="0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400" b="0" i="1" smtClean="0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≤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</m:t>
                              </m:r>
                              <m: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pour</m:t>
                              </m:r>
                              <m: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sz="2400" i="1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400" i="1">
                                      <a:solidFill>
                                        <a:srgbClr val="343C88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&gt;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77" y="2944429"/>
                <a:ext cx="4978275" cy="916148"/>
              </a:xfrm>
              <a:prstGeom prst="rect">
                <a:avLst/>
              </a:prstGeom>
              <a:blipFill rotWithShape="1">
                <a:blip r:embed="rId2"/>
                <a:stretch>
                  <a:fillRect t="-62" r="11" b="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06705" y="873289"/>
                <a:ext cx="8951278" cy="5327650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90000"/>
                  </a:lnSpc>
                </a:pPr>
                <a:endParaRPr lang="fr-FR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lnSpc>
                    <a:spcPct val="90000"/>
                  </a:lnSpc>
                  <a:buFont typeface="+mj-lt"/>
                  <a:buAutoNum type="arabicPeriod" startAt="5"/>
                </a:pPr>
                <a:r>
                  <a:rPr lang="fr-FR" sz="31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Fonction échelon unité (Heaviside ) </a:t>
                </a:r>
                <a:endParaRPr lang="fr-FR" sz="31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fr-FR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endParaRPr lang="fr-FR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fr-FR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fr-FR" sz="33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Γ</m:t>
                    </m:r>
                    <m:d>
                      <m:dPr>
                        <m:ctrlPr>
                          <a:rPr lang="fr-FR" sz="28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8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8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fr-FR" sz="28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8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r>
                              <a:rPr lang="fr-FR" sz="28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  <m:r>
                              <a:rPr lang="fr-FR" sz="28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   </m:t>
                            </m:r>
                            <m:r>
                              <m:rPr>
                                <m:sty m:val="p"/>
                              </m:rPr>
                              <a:rPr lang="fr-FR" sz="2800" b="0" i="0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pour</m:t>
                            </m:r>
                            <m:r>
                              <a:rPr lang="fr-FR" sz="2800" b="0" i="0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  </m:t>
                            </m:r>
                            <m:r>
                              <a:rPr lang="fr-FR" sz="28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fr-FR" sz="28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&lt;</m:t>
                            </m:r>
                            <m:r>
                              <a:rPr lang="fr-FR" sz="28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e>
                          <m:e>
                            <m:r>
                              <a:rPr lang="fr-FR" sz="28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fr-FR" sz="28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   </m:t>
                            </m:r>
                            <m:r>
                              <m:rPr>
                                <m:sty m:val="p"/>
                              </m:rPr>
                              <a:rPr lang="fr-FR" sz="2800" b="0" i="0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pour</m:t>
                            </m:r>
                            <m:r>
                              <a:rPr lang="fr-FR" sz="28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  </m:t>
                            </m:r>
                            <m:r>
                              <a:rPr lang="fr-FR" sz="28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fr-FR" sz="28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≥</m:t>
                            </m:r>
                            <m:r>
                              <a:rPr lang="fr-FR" sz="28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fr-FR" sz="33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fr-FR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fr-FR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fr-FR" sz="33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fr-FR" sz="33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fr-FR" sz="2400" dirty="0"/>
                  <a:t>Par convention, on admet une valeur à l’origine</a:t>
                </a:r>
                <a14:m>
                  <m:oMath xmlns:m="http://schemas.openxmlformats.org/officeDocument/2006/math">
                    <m:r>
                      <a:rPr lang="fr-F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Γ</m:t>
                    </m:r>
                    <m:d>
                      <m:dPr>
                        <m:ctrlPr>
                          <a:rPr lang="fr-F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400" dirty="0"/>
                  <a:t>pout t=0</a:t>
                </a:r>
                <a:endParaRPr lang="fr-FR" sz="2400" dirty="0"/>
              </a:p>
              <a:p>
                <a:pPr>
                  <a:lnSpc>
                    <a:spcPct val="90000"/>
                  </a:lnSpc>
                </a:pPr>
                <a:endParaRPr lang="fr-FR" sz="2400" dirty="0"/>
              </a:p>
              <a:p>
                <a:pPr>
                  <a:lnSpc>
                    <a:spcPct val="90000"/>
                  </a:lnSpc>
                </a:pPr>
                <a:r>
                  <a:rPr lang="fr-FR" sz="2400" dirty="0"/>
                  <a:t>Cette fonction permet de rendre </a:t>
                </a:r>
                <a:r>
                  <a:rPr lang="fr-FR" sz="2400" dirty="0">
                    <a:solidFill>
                      <a:srgbClr val="343C88"/>
                    </a:solidFill>
                  </a:rPr>
                  <a:t>causal </a:t>
                </a:r>
                <a:r>
                  <a:rPr lang="fr-FR" sz="2400" dirty="0"/>
                  <a:t>un signal </a:t>
                </a:r>
                <a14:m>
                  <m:oMath xmlns:m="http://schemas.openxmlformats.org/officeDocument/2006/math">
                    <m:r>
                      <a:rPr lang="fr-FR" sz="2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:  </m:t>
                    </m:r>
                    <m:r>
                      <m:rPr>
                        <m:sty m:val="p"/>
                      </m:rPr>
                      <a:rPr lang="el-GR" sz="210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Γ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.  </m:t>
                    </m:r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2400" dirty="0">
                    <a:solidFill>
                      <a:srgbClr val="343C88"/>
                    </a:solidFill>
                  </a:rPr>
                  <a:t> </a:t>
                </a:r>
                <a:r>
                  <a:rPr lang="fr-FR" sz="2100" dirty="0">
                    <a:solidFill>
                      <a:srgbClr val="343C88"/>
                    </a:solidFill>
                  </a:rPr>
                  <a:t>est nul si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endParaRPr lang="fr-FR" sz="2800" dirty="0">
                  <a:solidFill>
                    <a:srgbClr val="343C88"/>
                  </a:solidFill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fr-FR" dirty="0">
                    <a:solidFill>
                      <a:srgbClr val="FF0000"/>
                    </a:solidFill>
                  </a:rPr>
                  <a:t> </a:t>
                </a:r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06705" y="873289"/>
                <a:ext cx="8951278" cy="5327650"/>
              </a:xfrm>
              <a:blipFill rotWithShape="1">
                <a:blip r:embed="rId1"/>
                <a:stretch>
                  <a:fillRect t="-492" r="4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B697E3-4789-4F0C-921E-AD82779A1BF3}" type="slidenum">
              <a:rPr lang="fr-FR" smtClean="0"/>
            </a:fld>
            <a:endParaRPr lang="fr-FR" dirty="0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229600" cy="719137"/>
          </a:xfrm>
        </p:spPr>
        <p:txBody>
          <a:bodyPr>
            <a:normAutofit/>
          </a:bodyPr>
          <a:lstStyle/>
          <a:p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Quelques signaux élémentaires</a:t>
            </a:r>
            <a:endParaRPr lang="fr-FR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142" y="2099451"/>
            <a:ext cx="367665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26059" y="1155700"/>
                <a:ext cx="8137525" cy="532765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ct val="90000"/>
                  </a:lnSpc>
                  <a:buFont typeface="+mj-lt"/>
                  <a:buAutoNum type="arabicPeriod" startAt="6"/>
                </a:pPr>
                <a:r>
                  <a:rPr lang="fr-FR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Fonction signe</a:t>
                </a:r>
                <a:endParaRPr lang="fr-FR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𝑠𝑔𝑛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</m:t>
                              </m:r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pour</m:t>
                              </m:r>
                              <m: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&lt;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 </m:t>
                              </m:r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pour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≥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fr-FR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fr-FR" dirty="0">
                    <a:solidFill>
                      <a:srgbClr val="FF0000"/>
                    </a:solidFill>
                  </a:rPr>
                  <a:t> </a:t>
                </a:r>
                <a:endParaRPr lang="fr-FR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fr-FR" sz="2000" dirty="0"/>
                  <a:t>Par défaut, on admet une valeur à l’origine,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𝑠𝑔𝑛</m:t>
                    </m:r>
                    <m:d>
                      <m:dPr>
                        <m:ctrlP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lang="fr-FR" sz="2000" dirty="0"/>
                  <a:t> pour</a:t>
                </a:r>
                <a:r>
                  <a:rPr lang="fr-FR" sz="2000" dirty="0">
                    <a:solidFill>
                      <a:srgbClr val="343C88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000" b="0" i="0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t</m:t>
                    </m:r>
                    <m:r>
                      <a:rPr lang="fr-FR" sz="2000" i="1">
                        <a:solidFill>
                          <a:srgbClr val="343C88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2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endParaRPr lang="fr-FR" sz="2000" dirty="0"/>
              </a:p>
            </p:txBody>
          </p:sp>
        </mc:Choice>
        <mc:Fallback>
          <p:sp>
            <p:nvSpPr>
              <p:cNvPr id="6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26059" y="1155700"/>
                <a:ext cx="8137525" cy="5327650"/>
              </a:xfrm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B697E3-4789-4F0C-921E-AD82779A1BF3}" type="slidenum">
              <a:rPr lang="fr-FR" smtClean="0"/>
            </a:fld>
            <a:endParaRPr lang="fr-FR" dirty="0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229600" cy="719137"/>
          </a:xfrm>
        </p:spPr>
        <p:txBody>
          <a:bodyPr>
            <a:normAutofit/>
          </a:bodyPr>
          <a:lstStyle/>
          <a:p>
            <a:r>
              <a:rPr lang="fr-FR" sz="36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Quelques signaux élémentaires</a:t>
            </a:r>
            <a:endParaRPr lang="fr-FR" sz="36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179" y="2231182"/>
            <a:ext cx="3583881" cy="175680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435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0" y="1097947"/>
                <a:ext cx="9144000" cy="5596731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90000"/>
                  </a:lnSpc>
                </a:pPr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L’</a:t>
                </a:r>
                <a:r>
                  <a:rPr lang="fr-FR" sz="22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Impulsion de Dirac </a:t>
                </a: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est définie par: </a:t>
                </a:r>
                <a:endParaRPr lang="fr-F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    </m:t>
                      </m:r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𝛿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2400" b="0" i="1" smtClean="0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pour</m:t>
                              </m:r>
                              <m: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≠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+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∞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pour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 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fr-FR" sz="2400" b="0" i="1" smtClean="0">
                                  <a:solidFill>
                                    <a:srgbClr val="343C88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ts val="2800"/>
                  </a:lnSpc>
                  <a:buNone/>
                </a:pPr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δ(t) ne peut pas être représentée graphiquement. On la schématise par le symbole </a:t>
                </a:r>
                <a:endParaRPr lang="fr-FR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ts val="2800"/>
                  </a:lnSpc>
                  <a:buNone/>
                </a:pPr>
                <a:r>
                  <a:rPr lang="fr-FR" sz="1800" u="sng" dirty="0">
                    <a:solidFill>
                      <a:srgbClr val="343C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</a:t>
                </a:r>
                <a:r>
                  <a:rPr lang="fr-FR" sz="1800" dirty="0">
                    <a:solidFill>
                      <a:srgbClr val="343C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le 1 marqué sur la flèche représente l’</a:t>
                </a:r>
                <a:r>
                  <a:rPr lang="fr-FR" sz="1800" u="sng" dirty="0">
                    <a:solidFill>
                      <a:srgbClr val="343C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aire</a:t>
                </a:r>
                <a:r>
                  <a:rPr lang="fr-FR" sz="1800" dirty="0">
                    <a:solidFill>
                      <a:srgbClr val="343C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cette impulsion et non l’hauteur de l’impulsion</a:t>
                </a:r>
                <a:endParaRPr lang="fr-FR" sz="1800" dirty="0">
                  <a:solidFill>
                    <a:srgbClr val="343C8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ts val="2800"/>
                  </a:lnSpc>
                  <a:buNone/>
                </a:pPr>
                <a:endParaRPr lang="fr-FR" sz="1800" dirty="0">
                  <a:solidFill>
                    <a:srgbClr val="343C8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ts val="2800"/>
                  </a:lnSpc>
                  <a:buNone/>
                </a:pPr>
                <a:endParaRPr lang="fr-FR" sz="1800" dirty="0">
                  <a:solidFill>
                    <a:srgbClr val="343C8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fr-FR" sz="1800" dirty="0">
                  <a:solidFill>
                    <a:srgbClr val="343C8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fr-FR" sz="1800" b="1" i="0" u="none" strike="noStrike" baseline="0" dirty="0">
                    <a:solidFill>
                      <a:srgbClr val="343C89"/>
                    </a:solidFill>
                    <a:latin typeface="Helvetica-Bold"/>
                  </a:rPr>
                  <a:t>  </a:t>
                </a: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</a:t>
                </a: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fr-FR" sz="2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43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0" y="1097947"/>
                <a:ext cx="9144000" cy="5596731"/>
              </a:xfrm>
              <a:blipFill rotWithShape="1">
                <a:blip r:embed="rId1"/>
                <a:stretch>
                  <a:fillRect t="-1" b="-954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57200" y="28411"/>
            <a:ext cx="8229600" cy="791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srgbClr val="505ABC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La distribution</a:t>
            </a:r>
            <a:r>
              <a:rPr kumimoji="0" lang="fr-FR" sz="3600" b="0" i="0" u="none" strike="noStrike" kern="1200" cap="none" spc="0" normalizeH="0" noProof="0" dirty="0">
                <a:ln>
                  <a:noFill/>
                </a:ln>
                <a:solidFill>
                  <a:srgbClr val="505ABC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 de Dirac</a:t>
            </a:r>
            <a:endParaRPr kumimoji="0" lang="fr-FR" sz="3600" b="0" i="0" u="none" strike="noStrike" kern="1200" cap="none" spc="0" normalizeH="0" baseline="0" noProof="0" dirty="0">
              <a:ln>
                <a:noFill/>
              </a:ln>
              <a:solidFill>
                <a:srgbClr val="505ABC"/>
              </a:solidFill>
              <a:effectLst/>
              <a:uLnTx/>
              <a:uFillTx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375" y="1375094"/>
            <a:ext cx="3174436" cy="153099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2979146"/>
            <a:ext cx="419100" cy="7810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kern="12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distribution de Dirac</a:t>
            </a:r>
            <a:endParaRPr lang="en-US" sz="3600" kern="12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90000"/>
                  </a:lnSpc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Mathématiquement, </a:t>
                </a:r>
                <a:r>
                  <a:rPr lang="fr-FR" sz="2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l’impulsion de Dirac </a:t>
                </a: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est caractérisée par: </a:t>
                </a:r>
                <a:endParaRPr lang="fr-F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90000"/>
                  </a:lnSpc>
                </a:pPr>
                <a:endParaRPr lang="fr-FR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>
                  <a:lnSpc>
                    <a:spcPct val="90000"/>
                  </a:lnSpc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Une aire valant 1 :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fr-FR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fr-FR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p>
                      <m:e>
                        <m:r>
                          <a:rPr lang="fr-FR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𝛿</m:t>
                        </m:r>
                        <m:d>
                          <m:dPr>
                            <m:ctrlPr>
                              <a:rPr lang="fr-FR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fr-FR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fr-FR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𝑑𝑡</m:t>
                        </m:r>
                        <m:r>
                          <a:rPr lang="fr-FR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fr-FR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nary>
                  </m:oMath>
                </a14:m>
                <a:endParaRPr lang="fr-FR" sz="18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>
                  <a:lnSpc>
                    <a:spcPct val="90000"/>
                  </a:lnSpc>
                </a:pPr>
                <a:endParaRPr lang="fr-FR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>
                  <a:lnSpc>
                    <a:spcPct val="90000"/>
                  </a:lnSpc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Une valeur nulle sauf en 0 </a:t>
                </a:r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fr-FR" sz="240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d>
                      <m:dPr>
                        <m:ctrlPr>
                          <a:rPr lang="fr-FR" sz="24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     ∀ </m:t>
                    </m:r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≠</m:t>
                    </m:r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endParaRPr lang="fr-FR" sz="2400" dirty="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endParaRPr>
              </a:p>
              <a:p>
                <a:pPr lvl="1" algn="just">
                  <a:lnSpc>
                    <a:spcPct val="90000"/>
                  </a:lnSpc>
                </a:pPr>
                <a:endParaRPr lang="fr-FR" sz="1800" dirty="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endParaRPr>
              </a:p>
              <a:p>
                <a:pPr lvl="1" algn="just">
                  <a:lnSpc>
                    <a:spcPct val="90000"/>
                  </a:lnSpc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Dirac appliquée à une fonction </a:t>
                </a:r>
                <a:r>
                  <a:rPr lang="fr-FR" sz="2000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fr-FR" sz="240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d>
                      <m:dPr>
                        <m:ctrlPr>
                          <a:rPr lang="fr-FR" sz="24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e>
                    </m:d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fr-FR" sz="24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fr-FR" sz="1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lvl="1" indent="0" algn="just">
                  <a:lnSpc>
                    <a:spcPct val="90000"/>
                  </a:lnSpc>
                  <a:buNone/>
                </a:pPr>
                <a:r>
                  <a:rPr lang="fr-FR" sz="1600" dirty="0">
                    <a:solidFill>
                      <a:srgbClr val="343C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                              </a:t>
                </a:r>
                <a:r>
                  <a:rPr lang="fr-FR" sz="2400" dirty="0">
                    <a:solidFill>
                      <a:srgbClr val="343C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b>
                      <m:sup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p>
                      <m:e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𝛿</m:t>
                        </m:r>
                        <m:d>
                          <m:dPr>
                            <m:ctrlPr>
                              <a:rPr lang="fr-FR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𝑑𝑡</m:t>
                        </m:r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  <m:r>
                          <a:rPr lang="fr-FR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))</m:t>
                        </m:r>
                      </m:e>
                    </m:nary>
                  </m:oMath>
                </a14:m>
                <a:endParaRPr lang="fr-FR" sz="1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>
                  <a:lnSpc>
                    <a:spcPct val="90000"/>
                  </a:lnSpc>
                </a:pPr>
                <a:endParaRPr lang="fr-FR" sz="1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>
                  <a:lnSpc>
                    <a:spcPct val="90000"/>
                  </a:lnSpc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La distribution de Dirac est une </a:t>
                </a:r>
                <a:r>
                  <a:rPr lang="fr-FR" sz="2000" i="1" dirty="0">
                    <a:solidFill>
                      <a:srgbClr val="343C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fonction paire </a:t>
                </a:r>
                <a:endParaRPr lang="fr-FR" sz="2000" i="1" dirty="0">
                  <a:solidFill>
                    <a:srgbClr val="343C8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>
                  <a:lnSpc>
                    <a:spcPct val="90000"/>
                  </a:lnSpc>
                </a:pPr>
                <a:endParaRPr lang="fr-FR" sz="1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lvl="1" indent="0" algn="just">
                  <a:lnSpc>
                    <a:spcPct val="90000"/>
                  </a:lnSpc>
                  <a:buNone/>
                </a:pPr>
                <a:endParaRPr lang="fr-FR" sz="2000" dirty="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fr-FR" sz="2000" dirty="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     </a:t>
                </a:r>
                <a:endParaRPr lang="fr-FR" sz="2000" dirty="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fr-FR" sz="2000" dirty="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endParaRPr>
              </a:p>
              <a:p>
                <a:pPr lvl="1" algn="just">
                  <a:lnSpc>
                    <a:spcPts val="2900"/>
                  </a:lnSpc>
                </a:pPr>
                <a:endParaRPr lang="fr-FR" sz="1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1"/>
                <a:stretch>
                  <a:fillRect b="-2018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435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0" y="1097947"/>
                <a:ext cx="9144000" cy="5596731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90000"/>
                  </a:lnSpc>
                </a:pPr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Remarque 1</a:t>
                </a: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l’</a:t>
                </a:r>
                <a:r>
                  <a:rPr lang="fr-FR" sz="2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Impulsion de Dirac </a:t>
                </a: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peut être vue comme une fonction porte dont la largeur T tendrait vers 0 et dont l’aire est égale à 1 </a:t>
                </a:r>
                <a:endParaRPr lang="fr-F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fr-F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     </m:t>
                      </m:r>
                      <m:r>
                        <a:rPr lang="fr-FR" sz="2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𝛿</m:t>
                      </m:r>
                      <m:r>
                        <a:rPr lang="fr-FR" sz="2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fr-FR" sz="2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fr-FR" sz="2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)=</m:t>
                      </m:r>
                      <m:func>
                        <m:funcPr>
                          <m:ctrlPr>
                            <a:rPr lang="fr-FR" sz="2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2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2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fr-FR" sz="2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  <m:r>
                                <a:rPr lang="fr-FR" sz="2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→</m:t>
                              </m:r>
                              <m:r>
                                <a:rPr lang="fr-FR" sz="2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fr-FR" sz="2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fr-FR" sz="2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sz="2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den>
                          </m:f>
                        </m:e>
                      </m:func>
                      <m:sSub>
                        <m:sSubPr>
                          <m:ctrlPr>
                            <a:rPr lang="fr-FR" sz="2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fr-FR" sz="2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𝑟𝑒𝑐𝑡</m:t>
                          </m:r>
                        </m:e>
                        <m:sub>
                          <m:r>
                            <a:rPr lang="fr-FR" sz="2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b>
                      </m:sSub>
                      <m:r>
                        <a:rPr lang="fr-FR" sz="2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fr-FR" sz="2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fr-FR" sz="2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fr-FR" sz="2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fr-FR" sz="1800" dirty="0">
                  <a:solidFill>
                    <a:srgbClr val="343C8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ts val="2800"/>
                  </a:lnSpc>
                  <a:buNone/>
                </a:pPr>
                <a:endParaRPr lang="fr-FR" sz="1800" dirty="0">
                  <a:solidFill>
                    <a:srgbClr val="343C8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fr-FR" sz="1800" b="1" dirty="0">
                    <a:solidFill>
                      <a:srgbClr val="343C89"/>
                    </a:solidFill>
                    <a:latin typeface="Helvetica-Bold"/>
                  </a:rPr>
                  <a:t>        Illustration</a:t>
                </a:r>
                <a:r>
                  <a:rPr lang="fr-FR" sz="1800" dirty="0">
                    <a:solidFill>
                      <a:srgbClr val="343C89"/>
                    </a:solidFill>
                    <a:latin typeface="Helvetica" panose="020B0604020202020204" pitchFamily="34" charset="0"/>
                  </a:rPr>
                  <a:t>: </a:t>
                </a:r>
                <a:r>
                  <a:rPr lang="fr-FR" sz="1800" dirty="0">
                    <a:solidFill>
                      <a:srgbClr val="009A9A"/>
                    </a:solidFill>
                    <a:latin typeface="Helvetica" panose="020B0604020202020204" pitchFamily="34" charset="0"/>
                  </a:rPr>
                  <a:t>https://vincmazet.github.io/spetsi/limite-dirac.html</a:t>
                </a:r>
                <a:endParaRPr lang="fr-FR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fr-FR" sz="1800" dirty="0">
                  <a:solidFill>
                    <a:srgbClr val="343C8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fr-FR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Remarque 2: : </a:t>
                </a:r>
                <a:r>
                  <a:rPr lang="fr-FR" sz="2000" dirty="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O</a:t>
                </a: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 peut considérer </a:t>
                </a:r>
                <a14:m>
                  <m:oMath xmlns:m="http://schemas.openxmlformats.org/officeDocument/2006/math">
                    <m:r>
                      <a:rPr lang="fr-FR" sz="2000" i="1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d>
                      <m:dPr>
                        <m:ctrlPr>
                          <a:rPr lang="fr-FR" sz="2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2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2000" i="1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comme</a:t>
                </a:r>
                <a:r>
                  <a:rPr lang="fr-FR" sz="2000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la dérivée de la fonction échelon</a:t>
                </a: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</a:t>
                </a:r>
                <a:endParaRPr lang="fr-F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fr-FR" sz="1800" i="1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𝛿</m:t>
                      </m:r>
                      <m:d>
                        <m:dPr>
                          <m:ctrlP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fr-FR" sz="2000" i="1">
                          <a:solidFill>
                            <a:srgbClr val="343C8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Γ</m:t>
                          </m:r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fr-FR" sz="2000" i="1">
                              <a:solidFill>
                                <a:srgbClr val="343C8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</a:t>
                </a:r>
                <a:endParaRPr lang="fr-FR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fr-FR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fr-FR" sz="2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43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0" y="1097947"/>
                <a:ext cx="9144000" cy="5596731"/>
              </a:xfrm>
              <a:blipFill rotWithShape="1">
                <a:blip r:embed="rId1"/>
                <a:stretch>
                  <a:fillRect t="-1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57200" y="28411"/>
            <a:ext cx="8229600" cy="791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srgbClr val="505ABC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La distribution</a:t>
            </a:r>
            <a:r>
              <a:rPr kumimoji="0" lang="fr-FR" sz="3600" b="0" i="0" u="none" strike="noStrike" kern="1200" cap="none" spc="0" normalizeH="0" noProof="0" dirty="0">
                <a:ln>
                  <a:noFill/>
                </a:ln>
                <a:solidFill>
                  <a:srgbClr val="505ABC"/>
                </a:solidFill>
                <a:effectLst/>
                <a:uLnTx/>
                <a:uFillTx/>
                <a:ea typeface="+mj-ea"/>
                <a:cs typeface="Arial" panose="020B0604020202020204" pitchFamily="34" charset="0"/>
              </a:rPr>
              <a:t> de Dirac</a:t>
            </a:r>
            <a:endParaRPr kumimoji="0" lang="fr-FR" sz="3600" b="0" i="0" u="none" strike="noStrike" kern="1200" cap="none" spc="0" normalizeH="0" baseline="0" noProof="0" dirty="0">
              <a:ln>
                <a:noFill/>
              </a:ln>
              <a:solidFill>
                <a:srgbClr val="505ABC"/>
              </a:solidFill>
              <a:effectLst/>
              <a:uLnTx/>
              <a:uFillTx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kern="12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distribution de Dirac</a:t>
            </a:r>
            <a:endParaRPr lang="en-US" sz="3600" kern="12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A3B70-B14A-436E-A25A-DC920D000FB6}" type="slidenum">
              <a:rPr lang="fr-FR" smtClean="0"/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432280"/>
                <a:ext cx="8229600" cy="4525963"/>
              </a:xfrm>
            </p:spPr>
            <p:txBody>
              <a:bodyPr>
                <a:normAutofit fontScale="25000" lnSpcReduction="20000"/>
              </a:bodyPr>
              <a:lstStyle/>
              <a:p>
                <a:endParaRPr lang="fr-FR" sz="1600" dirty="0">
                  <a:solidFill>
                    <a:srgbClr val="FF0000"/>
                  </a:solidFill>
                </a:endParaRPr>
              </a:p>
              <a:p>
                <a:r>
                  <a:rPr lang="fr-FR" sz="9600" dirty="0">
                    <a:solidFill>
                      <a:srgbClr val="FF33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Dirac décalée de t</a:t>
                </a:r>
                <a:r>
                  <a:rPr lang="fr-FR" sz="9600" baseline="-25000" dirty="0">
                    <a:solidFill>
                      <a:srgbClr val="FF33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fr-FR" sz="9600" dirty="0">
                    <a:solidFill>
                      <a:srgbClr val="FF33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fr-FR" sz="8000" b="0" i="0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  </m:t>
                    </m:r>
                    <m:r>
                      <a:rPr lang="fr-FR" sz="800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d>
                      <m:dPr>
                        <m:ctrlP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8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fr-FR" sz="8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fr-FR" sz="8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fr-FR" sz="8000" i="1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fr-FR" sz="8000" dirty="0">
                    <a:latin typeface="Arial" panose="020B0604020202020204" pitchFamily="34" charset="0"/>
                    <a:cs typeface="Arial" panose="020B0604020202020204" pitchFamily="34" charset="0"/>
                  </a:rPr>
                  <a:t>est telle que:</a:t>
                </a:r>
                <a:endParaRPr lang="fr-FR" sz="8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0" lvl="4" indent="0">
                  <a:lnSpc>
                    <a:spcPct val="170000"/>
                  </a:lnSpc>
                  <a:buNone/>
                </a:pPr>
                <a:r>
                  <a:rPr lang="fr-FR" sz="8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lang="fr-FR" sz="8400" dirty="0">
                    <a:solidFill>
                      <a:srgbClr val="343C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-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fr-FR" sz="800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8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fr-FR" sz="8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b>
                      <m:sup>
                        <m:r>
                          <a:rPr lang="fr-FR" sz="8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fr-FR" sz="8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p>
                      <m:e>
                        <m:r>
                          <a:rPr lang="fr-FR" sz="800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𝛿</m:t>
                        </m:r>
                        <m:r>
                          <a:rPr lang="fr-FR" sz="8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fr-FR" sz="8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fr-FR" sz="80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8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fr-FR" sz="8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fr-FR" sz="80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e>
                    </m:nary>
                    <m:r>
                      <a:rPr lang="fr-FR" sz="8000" b="0" i="0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m:rPr>
                        <m:sty m:val="p"/>
                      </m:rPr>
                      <a:rPr lang="fr-FR" sz="8000" b="0" i="0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dt</m:t>
                    </m:r>
                    <m:r>
                      <a:rPr lang="fr-FR" sz="8000" b="0" i="0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8000" b="0" i="0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endParaRPr lang="fr-FR" sz="8000" b="0" dirty="0">
                  <a:solidFill>
                    <a:srgbClr val="343C8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0" lvl="4" indent="0">
                  <a:lnSpc>
                    <a:spcPct val="170000"/>
                  </a:lnSpc>
                  <a:buNone/>
                </a:pPr>
                <a:r>
                  <a:rPr lang="fr-FR" sz="6800" dirty="0">
                    <a:solidFill>
                      <a:srgbClr val="343C88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      </a:t>
                </a:r>
                <a:r>
                  <a:rPr lang="fr-FR" sz="8400" dirty="0">
                    <a:solidFill>
                      <a:srgbClr val="343C88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fr-FR" sz="8000" dirty="0">
                    <a:solidFill>
                      <a:srgbClr val="343C88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fr-FR" sz="9600" dirty="0">
                    <a:solidFill>
                      <a:srgbClr val="343C88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-  </a:t>
                </a:r>
                <a14:m>
                  <m:oMath xmlns:m="http://schemas.openxmlformats.org/officeDocument/2006/math">
                    <m:r>
                      <a:rPr lang="fr-FR" sz="800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d>
                      <m:dPr>
                        <m:ctrlP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8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fr-FR" sz="8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fr-FR" sz="8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fr-FR" sz="8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8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fr-FR" sz="8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    ∀ </m:t>
                    </m:r>
                    <m:r>
                      <a:rPr lang="fr-FR" sz="8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fr-FR" sz="8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≠</m:t>
                    </m:r>
                    <m:sSub>
                      <m:sSubPr>
                        <m:ctrlP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fr-FR" sz="6800" dirty="0">
                  <a:solidFill>
                    <a:srgbClr val="343C8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0" lvl="4" indent="0">
                  <a:lnSpc>
                    <a:spcPct val="170000"/>
                  </a:lnSpc>
                  <a:buNone/>
                </a:pPr>
                <a:r>
                  <a:rPr lang="fr-FR" sz="6800" dirty="0">
                    <a:solidFill>
                      <a:srgbClr val="343C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</a:t>
                </a:r>
                <a:r>
                  <a:rPr lang="fr-FR" sz="6800" b="1" dirty="0">
                    <a:solidFill>
                      <a:srgbClr val="343C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fr-FR" sz="6800" dirty="0">
                    <a:solidFill>
                      <a:srgbClr val="343C8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8000" b="0" i="0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fr-FR" sz="8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fr-FR" sz="8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fr-FR" sz="8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fr-FR" sz="8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fr-FR" sz="8000" i="1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d>
                      <m:dPr>
                        <m:ctrlP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8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fr-FR" sz="8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fr-FR" sz="8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fr-FR" sz="8000" i="1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fr-FR" sz="8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fr-FR" sz="8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fr-FR" sz="80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fr-FR" sz="8000" i="1">
                        <a:solidFill>
                          <a:srgbClr val="343C8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d>
                      <m:dPr>
                        <m:ctrlP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fr-FR" sz="8000" i="1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8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fr-FR" sz="8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fr-FR" sz="8000" i="1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fr-FR" sz="8400" dirty="0">
                  <a:solidFill>
                    <a:srgbClr val="343C8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96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5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8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9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2800" dirty="0">
                  <a:solidFill>
                    <a:srgbClr val="FF33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fr-FR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:endParaRPr lang="fr-FR" sz="28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fr-FR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r>
                  <a:rPr lang="fr-FR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endParaRPr lang="fr-FR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fr-FR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fr-FR" sz="16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32280"/>
                <a:ext cx="8229600" cy="4525963"/>
              </a:xfrm>
              <a:blipFill rotWithShape="1">
                <a:blip r:embed="rId1"/>
                <a:stretch>
                  <a:fillRect t="-8" b="-152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e 33"/>
          <p:cNvGrpSpPr/>
          <p:nvPr/>
        </p:nvGrpSpPr>
        <p:grpSpPr>
          <a:xfrm>
            <a:off x="797432" y="3546172"/>
            <a:ext cx="2376193" cy="1429363"/>
            <a:chOff x="914400" y="3026720"/>
            <a:chExt cx="2736233" cy="1770432"/>
          </a:xfrm>
        </p:grpSpPr>
        <p:cxnSp>
          <p:nvCxnSpPr>
            <p:cNvPr id="7" name="Connecteur droit avec flèche 34"/>
            <p:cNvCxnSpPr/>
            <p:nvPr/>
          </p:nvCxnSpPr>
          <p:spPr>
            <a:xfrm>
              <a:off x="971600" y="4149080"/>
              <a:ext cx="237626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Connecteur droit avec flèche 35"/>
            <p:cNvCxnSpPr/>
            <p:nvPr/>
          </p:nvCxnSpPr>
          <p:spPr>
            <a:xfrm flipV="1">
              <a:off x="1403648" y="3184264"/>
              <a:ext cx="0" cy="16128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Forme libre 23"/>
            <p:cNvSpPr/>
            <p:nvPr/>
          </p:nvSpPr>
          <p:spPr>
            <a:xfrm>
              <a:off x="914400" y="3501008"/>
              <a:ext cx="2145432" cy="1257182"/>
            </a:xfrm>
            <a:custGeom>
              <a:avLst/>
              <a:gdLst>
                <a:gd name="connsiteX0" fmla="*/ 0 w 2499433"/>
                <a:gd name="connsiteY0" fmla="*/ 1388386 h 1542303"/>
                <a:gd name="connsiteX1" fmla="*/ 1280160 w 2499433"/>
                <a:gd name="connsiteY1" fmla="*/ 649 h 1542303"/>
                <a:gd name="connsiteX2" fmla="*/ 1527586 w 2499433"/>
                <a:gd name="connsiteY2" fmla="*/ 1538993 h 1542303"/>
                <a:gd name="connsiteX3" fmla="*/ 2463501 w 2499433"/>
                <a:gd name="connsiteY3" fmla="*/ 420198 h 1542303"/>
                <a:gd name="connsiteX4" fmla="*/ 2216075 w 2499433"/>
                <a:gd name="connsiteY4" fmla="*/ 764442 h 154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9433" h="1542303">
                  <a:moveTo>
                    <a:pt x="0" y="1388386"/>
                  </a:moveTo>
                  <a:cubicBezTo>
                    <a:pt x="512781" y="681967"/>
                    <a:pt x="1025562" y="-24452"/>
                    <a:pt x="1280160" y="649"/>
                  </a:cubicBezTo>
                  <a:cubicBezTo>
                    <a:pt x="1534758" y="25750"/>
                    <a:pt x="1330363" y="1469068"/>
                    <a:pt x="1527586" y="1538993"/>
                  </a:cubicBezTo>
                  <a:cubicBezTo>
                    <a:pt x="1724810" y="1608918"/>
                    <a:pt x="2348753" y="549290"/>
                    <a:pt x="2463501" y="420198"/>
                  </a:cubicBezTo>
                  <a:cubicBezTo>
                    <a:pt x="2578249" y="291106"/>
                    <a:pt x="2397162" y="527774"/>
                    <a:pt x="2216075" y="764442"/>
                  </a:cubicBezTo>
                </a:path>
              </a:pathLst>
            </a:cu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0" name="Connecteur droit 37"/>
            <p:cNvCxnSpPr/>
            <p:nvPr/>
          </p:nvCxnSpPr>
          <p:spPr>
            <a:xfrm>
              <a:off x="2411760" y="4149080"/>
              <a:ext cx="0" cy="50405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ZoneTexte 38"/>
                <p:cNvSpPr txBox="1"/>
                <p:nvPr/>
              </p:nvSpPr>
              <p:spPr>
                <a:xfrm>
                  <a:off x="2245316" y="3779748"/>
                  <a:ext cx="4440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/>
                              </a:rPr>
                              <m:t>𝑡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11" name="ZoneTexte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316" y="3779748"/>
                  <a:ext cx="444096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ZoneTexte 39"/>
                <p:cNvSpPr txBox="1"/>
                <p:nvPr/>
              </p:nvSpPr>
              <p:spPr>
                <a:xfrm>
                  <a:off x="3304834" y="4216442"/>
                  <a:ext cx="3457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12" name="ZoneTexte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4834" y="4216442"/>
                  <a:ext cx="345799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ZoneTexte 40"/>
                <p:cNvSpPr txBox="1"/>
                <p:nvPr/>
              </p:nvSpPr>
              <p:spPr>
                <a:xfrm>
                  <a:off x="1403648" y="3026720"/>
                  <a:ext cx="6685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13" name="ZoneTexte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648" y="3026720"/>
                  <a:ext cx="66858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Flèche droite 40"/>
          <p:cNvSpPr/>
          <p:nvPr/>
        </p:nvSpPr>
        <p:spPr>
          <a:xfrm>
            <a:off x="3799698" y="4615426"/>
            <a:ext cx="1368152" cy="615704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72" y="5231430"/>
            <a:ext cx="2476500" cy="1533525"/>
          </a:xfrm>
          <a:prstGeom prst="rect">
            <a:avLst/>
          </a:prstGeom>
        </p:spPr>
      </p:pic>
      <p:grpSp>
        <p:nvGrpSpPr>
          <p:cNvPr id="16" name="Groupe 51"/>
          <p:cNvGrpSpPr/>
          <p:nvPr/>
        </p:nvGrpSpPr>
        <p:grpSpPr>
          <a:xfrm>
            <a:off x="5793563" y="4004595"/>
            <a:ext cx="2736233" cy="1770432"/>
            <a:chOff x="914400" y="3026720"/>
            <a:chExt cx="2736233" cy="1770432"/>
          </a:xfrm>
        </p:grpSpPr>
        <p:cxnSp>
          <p:nvCxnSpPr>
            <p:cNvPr id="17" name="Connecteur droit avec flèche 52"/>
            <p:cNvCxnSpPr/>
            <p:nvPr/>
          </p:nvCxnSpPr>
          <p:spPr>
            <a:xfrm>
              <a:off x="971600" y="4149080"/>
              <a:ext cx="237626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eur droit avec flèche 53"/>
            <p:cNvCxnSpPr/>
            <p:nvPr/>
          </p:nvCxnSpPr>
          <p:spPr>
            <a:xfrm flipV="1">
              <a:off x="1403648" y="3184264"/>
              <a:ext cx="0" cy="16128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Forme libre 44"/>
            <p:cNvSpPr/>
            <p:nvPr/>
          </p:nvSpPr>
          <p:spPr>
            <a:xfrm>
              <a:off x="914400" y="3501008"/>
              <a:ext cx="2145432" cy="1257182"/>
            </a:xfrm>
            <a:custGeom>
              <a:avLst/>
              <a:gdLst>
                <a:gd name="connsiteX0" fmla="*/ 0 w 2499433"/>
                <a:gd name="connsiteY0" fmla="*/ 1388386 h 1542303"/>
                <a:gd name="connsiteX1" fmla="*/ 1280160 w 2499433"/>
                <a:gd name="connsiteY1" fmla="*/ 649 h 1542303"/>
                <a:gd name="connsiteX2" fmla="*/ 1527586 w 2499433"/>
                <a:gd name="connsiteY2" fmla="*/ 1538993 h 1542303"/>
                <a:gd name="connsiteX3" fmla="*/ 2463501 w 2499433"/>
                <a:gd name="connsiteY3" fmla="*/ 420198 h 1542303"/>
                <a:gd name="connsiteX4" fmla="*/ 2216075 w 2499433"/>
                <a:gd name="connsiteY4" fmla="*/ 764442 h 154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9433" h="1542303">
                  <a:moveTo>
                    <a:pt x="0" y="1388386"/>
                  </a:moveTo>
                  <a:cubicBezTo>
                    <a:pt x="512781" y="681967"/>
                    <a:pt x="1025562" y="-24452"/>
                    <a:pt x="1280160" y="649"/>
                  </a:cubicBezTo>
                  <a:cubicBezTo>
                    <a:pt x="1534758" y="25750"/>
                    <a:pt x="1330363" y="1469068"/>
                    <a:pt x="1527586" y="1538993"/>
                  </a:cubicBezTo>
                  <a:cubicBezTo>
                    <a:pt x="1724810" y="1608918"/>
                    <a:pt x="2348753" y="549290"/>
                    <a:pt x="2463501" y="420198"/>
                  </a:cubicBezTo>
                  <a:cubicBezTo>
                    <a:pt x="2578249" y="291106"/>
                    <a:pt x="2397162" y="527774"/>
                    <a:pt x="2216075" y="764442"/>
                  </a:cubicBezTo>
                </a:path>
              </a:pathLst>
            </a:custGeom>
            <a:ln w="31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0" name="Connecteur droit 55"/>
            <p:cNvCxnSpPr/>
            <p:nvPr/>
          </p:nvCxnSpPr>
          <p:spPr>
            <a:xfrm>
              <a:off x="2411760" y="4149080"/>
              <a:ext cx="0" cy="504056"/>
            </a:xfrm>
            <a:prstGeom prst="line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ZoneTexte 56"/>
                <p:cNvSpPr txBox="1"/>
                <p:nvPr/>
              </p:nvSpPr>
              <p:spPr>
                <a:xfrm>
                  <a:off x="2245316" y="3779748"/>
                  <a:ext cx="4440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/>
                              </a:rPr>
                              <m:t>𝑡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21" name="ZoneTexte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316" y="3779748"/>
                  <a:ext cx="444096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ZoneTexte 57"/>
                <p:cNvSpPr txBox="1"/>
                <p:nvPr/>
              </p:nvSpPr>
              <p:spPr>
                <a:xfrm>
                  <a:off x="3304834" y="4216442"/>
                  <a:ext cx="3457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22" name="ZoneTexte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4834" y="4216442"/>
                  <a:ext cx="345799" cy="36933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ZoneTexte 58"/>
            <p:cNvSpPr txBox="1"/>
            <p:nvPr/>
          </p:nvSpPr>
          <p:spPr>
            <a:xfrm>
              <a:off x="1403648" y="302672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fr-FR" dirty="0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kern="12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Peigne de Dirac</a:t>
            </a:r>
            <a:endParaRPr lang="en-US" sz="3600" kern="12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 fontScale="25000" lnSpcReduction="20000"/>
              </a:bodyPr>
              <a:lstStyle/>
              <a:p>
                <a:pPr algn="just">
                  <a:lnSpc>
                    <a:spcPts val="2800"/>
                  </a:lnSpc>
                </a:pPr>
                <a:r>
                  <a:rPr lang="fr-FR" sz="8000" dirty="0">
                    <a:latin typeface="Arial" panose="020B0604020202020204" pitchFamily="34" charset="0"/>
                    <a:cs typeface="Arial" panose="020B0604020202020204" pitchFamily="34" charset="0"/>
                  </a:rPr>
                  <a:t>On appelle </a:t>
                </a:r>
                <a:r>
                  <a:rPr lang="fr-FR" sz="9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peigne de Dirac </a:t>
                </a:r>
                <a:r>
                  <a:rPr lang="fr-FR" sz="8000" dirty="0">
                    <a:latin typeface="Arial" panose="020B0604020202020204" pitchFamily="34" charset="0"/>
                    <a:cs typeface="Arial" panose="020B0604020202020204" pitchFamily="34" charset="0"/>
                  </a:rPr>
                  <a:t>une somme infinie d’impulsions de Dirac régulièrement espacées de  </a:t>
                </a:r>
                <a14:m>
                  <m:oMath xmlns:m="http://schemas.openxmlformats.org/officeDocument/2006/math">
                    <m:r>
                      <a:rPr lang="fr-FR" sz="8000" b="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fr-FR" sz="8000" dirty="0">
                    <a:latin typeface="Arial" panose="020B0604020202020204" pitchFamily="34" charset="0"/>
                    <a:cs typeface="Arial" panose="020B0604020202020204" pitchFamily="34" charset="0"/>
                  </a:rPr>
                  <a:t> . Elle est définie par :</a:t>
                </a:r>
                <a:endParaRPr lang="fr-FR" sz="8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ts val="2800"/>
                  </a:lnSpc>
                </a:pPr>
                <a:endParaRPr lang="fr-FR" sz="6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ts val="2800"/>
                  </a:lnSpc>
                  <a:buNone/>
                </a:pPr>
                <a:endParaRPr lang="fr-FR" sz="6200" i="1" dirty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ts val="2800"/>
                  </a:lnSpc>
                  <a:buNone/>
                </a:pPr>
                <a:r>
                  <a:rPr lang="fr-FR" sz="7200" dirty="0">
                    <a:solidFill>
                      <a:srgbClr val="343C88"/>
                    </a:solidFill>
                    <a:cs typeface="Arial" panose="020B0604020202020204" pitchFamily="34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z-Cyrl-AZ" sz="11200" i="1" dirty="0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az-Cyrl-AZ" sz="11200" dirty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Ш</m:t>
                        </m:r>
                      </m:e>
                      <m:sub>
                        <m:r>
                          <a:rPr lang="fr-FR" sz="11200" b="0" i="1" dirty="0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fr-FR" sz="112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sz="112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fr-FR" sz="11200" b="0" i="1" smtClean="0">
                        <a:solidFill>
                          <a:srgbClr val="343C88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fr-FR" sz="112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112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fr-FR" sz="112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=−∞</m:t>
                        </m:r>
                      </m:sub>
                      <m:sup>
                        <m:r>
                          <a:rPr lang="fr-FR" sz="112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fr-FR" sz="112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p>
                      <m:e>
                        <m:r>
                          <a:rPr lang="fr-FR" sz="112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𝛿</m:t>
                        </m:r>
                        <m:d>
                          <m:dPr>
                            <m:ctrlPr>
                              <a:rPr lang="fr-FR" sz="112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fr-FR" sz="112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fr-FR" sz="112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fr-FR" sz="11200" b="0" i="1" smtClean="0">
                                <a:solidFill>
                                  <a:srgbClr val="343C88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𝑘𝑇</m:t>
                            </m:r>
                          </m:e>
                        </m:d>
                        <m:r>
                          <a:rPr lang="fr-FR" sz="11200" b="0" i="1" smtClean="0">
                            <a:solidFill>
                              <a:srgbClr val="343C8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</m:e>
                    </m:nary>
                  </m:oMath>
                </a14:m>
                <a:endParaRPr lang="fr-FR" sz="7200" dirty="0">
                  <a:solidFill>
                    <a:srgbClr val="343C88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ts val="2800"/>
                  </a:lnSpc>
                </a:pPr>
                <a:endParaRPr lang="fr-FR" sz="6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ts val="2800"/>
                  </a:lnSpc>
                </a:pPr>
                <a:endParaRPr lang="fr-FR" sz="6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ts val="2800"/>
                  </a:lnSpc>
                </a:pPr>
                <a:endParaRPr lang="fr-FR" sz="6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ts val="2800"/>
                  </a:lnSpc>
                </a:pPr>
                <a:endParaRPr lang="fr-FR" sz="6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ts val="2800"/>
                  </a:lnSpc>
                </a:pPr>
                <a:endParaRPr lang="fr-FR" sz="6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ts val="2800"/>
                  </a:lnSpc>
                </a:pPr>
                <a14:m>
                  <m:oMath xmlns:m="http://schemas.openxmlformats.org/officeDocument/2006/math">
                    <m:r>
                      <a:rPr lang="fr-FR" sz="8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fr-FR" sz="8000" dirty="0">
                    <a:latin typeface="Arial" panose="020B0604020202020204" pitchFamily="34" charset="0"/>
                    <a:cs typeface="Arial" panose="020B0604020202020204" pitchFamily="34" charset="0"/>
                  </a:rPr>
                  <a:t> est la </a:t>
                </a:r>
                <a:r>
                  <a:rPr lang="fr-FR" sz="8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période</a:t>
                </a:r>
                <a:r>
                  <a:rPr lang="fr-FR" sz="8000" dirty="0">
                    <a:latin typeface="Arial" panose="020B0604020202020204" pitchFamily="34" charset="0"/>
                    <a:cs typeface="Arial" panose="020B0604020202020204" pitchFamily="34" charset="0"/>
                  </a:rPr>
                  <a:t> du peigne. </a:t>
                </a:r>
                <a:endParaRPr lang="fr-FR" sz="8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fr-FR" sz="1600" i="1" dirty="0"/>
              </a:p>
              <a:p>
                <a:pPr>
                  <a:buFont typeface="Wingdings" panose="05000000000000000000" pitchFamily="2" charset="2"/>
                  <a:buNone/>
                </a:pPr>
                <a:endParaRPr lang="fr-FR" sz="440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fr-FR" sz="4400" dirty="0">
                  <a:solidFill>
                    <a:schemeClr val="tx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fr-FR" sz="1800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fr-FR" sz="1800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fr-FR" sz="1800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fr-FR" sz="1800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r>
                  <a:rPr lang="fr-FR" sz="1800" dirty="0">
                    <a:solidFill>
                      <a:srgbClr val="FF0000"/>
                    </a:solidFill>
                  </a:rPr>
                  <a:t> </a:t>
                </a:r>
                <a:endParaRPr lang="fr-FR" sz="1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1"/>
                <a:stretch>
                  <a:fillRect b="-1577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094" y="3835460"/>
            <a:ext cx="3771106" cy="177096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kern="12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Peigne de Dirac</a:t>
            </a:r>
            <a:endParaRPr lang="en-US" sz="3600" kern="12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ts val="2800"/>
                  </a:lnSpc>
                </a:pPr>
                <a:r>
                  <a:rPr lang="fr-F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Cette fonction permet de modéliser de façon théorique </a:t>
                </a:r>
                <a:r>
                  <a:rPr lang="fr-FR" sz="20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 processus d’échantillonnage</a:t>
                </a:r>
                <a:endParaRPr lang="fr-FR" sz="2000" i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fr-FR" sz="1600" i="1" dirty="0"/>
              </a:p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z-Cyrl-AZ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fr-FR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. </m:t>
                          </m:r>
                          <m:r>
                            <m:rPr>
                              <m:nor/>
                            </m:rPr>
                            <a:rPr lang="az-Cyrl-AZ" sz="24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4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T</m:t>
                          </m:r>
                        </m:sub>
                      </m:sSub>
                      <m:d>
                        <m:d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=−∞</m:t>
                          </m:r>
                        </m:sub>
                        <m: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𝑘𝑇</m:t>
                              </m:r>
                            </m:e>
                          </m:d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  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𝛿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𝑘𝑇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fr-FR" sz="2400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fr-FR" sz="2400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fr-FR" sz="1800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fr-FR" sz="1800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r>
                  <a:rPr lang="fr-FR" sz="1800" dirty="0">
                    <a:solidFill>
                      <a:srgbClr val="FF0000"/>
                    </a:solidFill>
                  </a:rPr>
                  <a:t> </a:t>
                </a:r>
                <a:endParaRPr lang="fr-FR" sz="1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525963"/>
              </a:xfrm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3933056"/>
            <a:ext cx="4752528" cy="19569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kern="1200" dirty="0">
                <a:solidFill>
                  <a:srgbClr val="505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2800" kern="1200" dirty="0">
              <a:solidFill>
                <a:srgbClr val="505A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B697E3-4789-4F0C-921E-AD82779A1BF3}" type="slidenum">
              <a:rPr lang="fr-FR" smtClean="0"/>
            </a:fld>
            <a:endParaRPr lang="fr-FR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dirty="0">
                <a:cs typeface="Arial" panose="020B0604020202020204" pitchFamily="34" charset="0"/>
              </a:rPr>
              <a:t>Etant donné un signal, on sait maintenant le</a:t>
            </a:r>
            <a:r>
              <a:rPr lang="fr-FR" sz="2000" dirty="0">
                <a:solidFill>
                  <a:srgbClr val="0000FF"/>
                </a:solidFill>
                <a:cs typeface="Arial" panose="020B0604020202020204" pitchFamily="34" charset="0"/>
              </a:rPr>
              <a:t> caractériser </a:t>
            </a:r>
            <a:r>
              <a:rPr lang="fr-FR" sz="2000" dirty="0">
                <a:cs typeface="Arial" panose="020B0604020202020204" pitchFamily="34" charset="0"/>
              </a:rPr>
              <a:t>de la façon suivante:</a:t>
            </a:r>
            <a:endParaRPr lang="fr-FR" sz="2000" dirty="0">
              <a:cs typeface="Arial" panose="020B0604020202020204" pitchFamily="34" charset="0"/>
            </a:endParaRPr>
          </a:p>
          <a:p>
            <a:pPr algn="just"/>
            <a:endParaRPr lang="fr-FR" sz="2000" dirty="0">
              <a:cs typeface="Arial" panose="020B0604020202020204" pitchFamily="34" charset="0"/>
            </a:endParaRPr>
          </a:p>
          <a:p>
            <a:pPr marL="360680" algn="just"/>
            <a:r>
              <a:rPr lang="fr-FR" sz="2000" dirty="0">
                <a:solidFill>
                  <a:srgbClr val="343C88"/>
                </a:solidFill>
                <a:cs typeface="Arial" panose="020B0604020202020204" pitchFamily="34" charset="0"/>
              </a:rPr>
              <a:t>◮ Continu / Discret ?</a:t>
            </a:r>
            <a:endParaRPr lang="fr-FR" sz="2000" dirty="0">
              <a:solidFill>
                <a:srgbClr val="343C88"/>
              </a:solidFill>
              <a:cs typeface="Arial" panose="020B0604020202020204" pitchFamily="34" charset="0"/>
            </a:endParaRPr>
          </a:p>
          <a:p>
            <a:pPr marL="360680" algn="just"/>
            <a:r>
              <a:rPr lang="fr-FR" sz="2000" dirty="0">
                <a:solidFill>
                  <a:srgbClr val="343C88"/>
                </a:solidFill>
                <a:cs typeface="Arial" panose="020B0604020202020204" pitchFamily="34" charset="0"/>
              </a:rPr>
              <a:t>◮ Support temporel borné/fini / non borné/infini ?</a:t>
            </a:r>
            <a:endParaRPr lang="fr-FR" sz="2000" dirty="0">
              <a:solidFill>
                <a:srgbClr val="343C88"/>
              </a:solidFill>
              <a:cs typeface="Arial" panose="020B0604020202020204" pitchFamily="34" charset="0"/>
            </a:endParaRPr>
          </a:p>
          <a:p>
            <a:pPr marL="360680" algn="just"/>
            <a:r>
              <a:rPr lang="fr-FR" sz="2000" dirty="0">
                <a:solidFill>
                  <a:srgbClr val="343C88"/>
                </a:solidFill>
                <a:cs typeface="Arial" panose="020B0604020202020204" pitchFamily="34" charset="0"/>
              </a:rPr>
              <a:t>◮ Périodique ou pas ? Période fondamentale ?</a:t>
            </a:r>
            <a:endParaRPr lang="fr-FR" sz="2000" dirty="0">
              <a:solidFill>
                <a:srgbClr val="343C88"/>
              </a:solidFill>
              <a:cs typeface="Arial" panose="020B0604020202020204" pitchFamily="34" charset="0"/>
            </a:endParaRPr>
          </a:p>
          <a:p>
            <a:pPr marL="360680" algn="just"/>
            <a:r>
              <a:rPr lang="fr-FR" sz="2000" dirty="0">
                <a:solidFill>
                  <a:srgbClr val="343C88"/>
                </a:solidFill>
                <a:cs typeface="Arial" panose="020B0604020202020204" pitchFamily="34" charset="0"/>
              </a:rPr>
              <a:t>◮ Energie finie / Puissance finie ?</a:t>
            </a:r>
            <a:endParaRPr lang="fr-FR" sz="2000" dirty="0">
              <a:solidFill>
                <a:srgbClr val="343C88"/>
              </a:solidFill>
              <a:cs typeface="Arial" panose="020B0604020202020204" pitchFamily="34" charset="0"/>
            </a:endParaRPr>
          </a:p>
          <a:p>
            <a:pPr algn="just"/>
            <a:endParaRPr lang="fr-FR" sz="2000" dirty="0">
              <a:cs typeface="Arial" panose="020B0604020202020204" pitchFamily="34" charset="0"/>
            </a:endParaRPr>
          </a:p>
          <a:p>
            <a:pPr algn="just"/>
            <a:r>
              <a:rPr lang="fr-FR" sz="2000" dirty="0">
                <a:cs typeface="Arial" panose="020B0604020202020204" pitchFamily="34" charset="0"/>
              </a:rPr>
              <a:t>◮ Deux cas courants :</a:t>
            </a:r>
            <a:endParaRPr lang="fr-FR" sz="2000" dirty="0">
              <a:cs typeface="Arial" panose="020B0604020202020204" pitchFamily="34" charset="0"/>
            </a:endParaRPr>
          </a:p>
          <a:p>
            <a:pPr marL="457200" indent="-97155" algn="just">
              <a:buFont typeface="Arial" panose="020B0604020202020204" pitchFamily="34" charset="0"/>
              <a:buChar char="•"/>
            </a:pPr>
            <a:r>
              <a:rPr lang="fr-FR" sz="2000" dirty="0">
                <a:cs typeface="Arial" panose="020B0604020202020204" pitchFamily="34" charset="0"/>
              </a:rPr>
              <a:t> </a:t>
            </a:r>
            <a:r>
              <a:rPr lang="fr-FR" sz="2000" dirty="0">
                <a:solidFill>
                  <a:srgbClr val="FF0000"/>
                </a:solidFill>
                <a:cs typeface="Arial" panose="020B0604020202020204" pitchFamily="34" charset="0"/>
              </a:rPr>
              <a:t>Signaux périodiques </a:t>
            </a:r>
            <a:r>
              <a:rPr lang="fr-FR" sz="2000" dirty="0">
                <a:cs typeface="Arial" panose="020B0604020202020204" pitchFamily="34" charset="0"/>
              </a:rPr>
              <a:t>: énergie totale infinie, puissance moyenne totale finie</a:t>
            </a:r>
            <a:endParaRPr lang="fr-FR" sz="2000" dirty="0">
              <a:cs typeface="Arial" panose="020B0604020202020204" pitchFamily="34" charset="0"/>
            </a:endParaRPr>
          </a:p>
          <a:p>
            <a:pPr marL="457200" indent="-97155" algn="just">
              <a:buFont typeface="Arial" panose="020B0604020202020204" pitchFamily="34" charset="0"/>
              <a:buChar char="•"/>
            </a:pPr>
            <a:endParaRPr lang="fr-FR" sz="2000" dirty="0">
              <a:cs typeface="Arial" panose="020B0604020202020204" pitchFamily="34" charset="0"/>
            </a:endParaRPr>
          </a:p>
          <a:p>
            <a:pPr marL="457200" indent="-97155" algn="just">
              <a:buFont typeface="Arial" panose="020B0604020202020204" pitchFamily="34" charset="0"/>
              <a:buChar char="•"/>
            </a:pPr>
            <a:r>
              <a:rPr lang="fr-FR" sz="2000" dirty="0">
                <a:cs typeface="Arial" panose="020B0604020202020204" pitchFamily="34" charset="0"/>
              </a:rPr>
              <a:t> </a:t>
            </a:r>
            <a:r>
              <a:rPr lang="fr-FR" sz="2000" dirty="0">
                <a:solidFill>
                  <a:srgbClr val="FF0000"/>
                </a:solidFill>
                <a:cs typeface="Arial" panose="020B0604020202020204" pitchFamily="34" charset="0"/>
              </a:rPr>
              <a:t>Signaux à support temporel borné </a:t>
            </a:r>
            <a:r>
              <a:rPr lang="fr-FR" sz="2000" dirty="0">
                <a:cs typeface="Arial" panose="020B0604020202020204" pitchFamily="34" charset="0"/>
              </a:rPr>
              <a:t>: énergie totale finie, puissance moyenne totale nulle</a:t>
            </a:r>
            <a:endParaRPr lang="fr-FR" sz="20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Remarques </a:t>
            </a:r>
            <a:endParaRPr lang="fr-FR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Espace réservé du contenu 2"/>
          <p:cNvSpPr>
            <a:spLocks noGrp="1"/>
          </p:cNvSpPr>
          <p:nvPr>
            <p:ph sz="half" idx="2"/>
          </p:nvPr>
        </p:nvSpPr>
        <p:spPr>
          <a:xfrm>
            <a:off x="395536" y="1124744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fr-FR" sz="2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expérimental </a:t>
            </a:r>
            <a:r>
              <a:rPr lang="fr-F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s(t) est généralement un signal physique délivré par un capteur ou un appareil de mesure et varie en fonction du temps. Il doit être physiquement réalisable et répondre à un ensemble de contraintes :</a:t>
            </a:r>
            <a:endParaRPr lang="fr-FR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 cstate="print"/>
          <a:stretch>
            <a:fillRect/>
          </a:stretch>
        </p:blipFill>
        <p:spPr bwMode="auto">
          <a:xfrm>
            <a:off x="1187624" y="4581128"/>
            <a:ext cx="6722233" cy="223418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-569456" y="2910760"/>
            <a:ext cx="9684568" cy="1107996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pPr marL="1082675" lvl="3">
              <a:buFont typeface="Wingdings" panose="05000000000000000000" pitchFamily="2" charset="2"/>
              <a:buChar char="Ø"/>
            </a:pPr>
            <a:r>
              <a:rPr lang="fr-FR" sz="2200" dirty="0">
                <a:solidFill>
                  <a:srgbClr val="00B050"/>
                </a:solidFill>
              </a:rPr>
              <a:t> à énergie bornée,</a:t>
            </a:r>
            <a:endParaRPr lang="fr-FR" sz="2200" dirty="0">
              <a:solidFill>
                <a:srgbClr val="00B050"/>
              </a:solidFill>
            </a:endParaRPr>
          </a:p>
          <a:p>
            <a:pPr marL="1082675" lvl="3">
              <a:buFont typeface="Wingdings" panose="05000000000000000000" pitchFamily="2" charset="2"/>
              <a:buChar char="Ø"/>
            </a:pPr>
            <a:r>
              <a:rPr lang="fr-FR" sz="2200" dirty="0">
                <a:solidFill>
                  <a:srgbClr val="00B050"/>
                </a:solidFill>
              </a:rPr>
              <a:t> à amplitude bornée,</a:t>
            </a:r>
            <a:endParaRPr lang="fr-FR" sz="2200" dirty="0">
              <a:solidFill>
                <a:srgbClr val="00B050"/>
              </a:solidFill>
            </a:endParaRPr>
          </a:p>
          <a:p>
            <a:pPr marL="1082675" lvl="3">
              <a:buFont typeface="Wingdings" panose="05000000000000000000" pitchFamily="2" charset="2"/>
              <a:buChar char="Ø"/>
            </a:pPr>
            <a:r>
              <a:rPr lang="fr-FR" sz="2200" dirty="0">
                <a:solidFill>
                  <a:srgbClr val="00B050"/>
                </a:solidFill>
              </a:rPr>
              <a:t> continu,</a:t>
            </a:r>
            <a:endParaRPr lang="fr-FR" sz="2200" dirty="0">
              <a:solidFill>
                <a:srgbClr val="00B050"/>
              </a:solidFill>
            </a:endParaRPr>
          </a:p>
          <a:p>
            <a:pPr marL="0" lvl="2" indent="265430">
              <a:buFont typeface="Wingdings" panose="05000000000000000000" pitchFamily="2" charset="2"/>
              <a:buChar char="Ø"/>
              <a:tabLst>
                <a:tab pos="890270" algn="l"/>
              </a:tabLst>
            </a:pPr>
            <a:r>
              <a:rPr lang="fr-FR" sz="2200" dirty="0"/>
              <a:t> </a:t>
            </a:r>
            <a:r>
              <a:rPr lang="fr-FR" sz="2200" dirty="0">
                <a:solidFill>
                  <a:schemeClr val="tx2"/>
                </a:solidFill>
              </a:rPr>
              <a:t> </a:t>
            </a:r>
            <a:r>
              <a:rPr lang="fr-FR" sz="2200" dirty="0">
                <a:solidFill>
                  <a:srgbClr val="00B050"/>
                </a:solidFill>
              </a:rPr>
              <a:t>causal, défini sur ℝ+, </a:t>
            </a:r>
            <a:endParaRPr lang="fr-FR" sz="2200" dirty="0">
              <a:solidFill>
                <a:srgbClr val="00B05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200" dirty="0">
                <a:solidFill>
                  <a:srgbClr val="00B050"/>
                </a:solidFill>
              </a:rPr>
              <a:t> à support borné (de durée limitée ou finie)</a:t>
            </a:r>
            <a:endParaRPr lang="fr-FR" sz="2200" dirty="0">
              <a:solidFill>
                <a:srgbClr val="00B05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fr-FR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Remarques</a:t>
            </a:r>
            <a:endParaRPr lang="fr-FR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space réservé du contenu 2"/>
          <p:cNvSpPr>
            <a:spLocks noGrp="1"/>
          </p:cNvSpPr>
          <p:nvPr>
            <p:ph sz="half" idx="2"/>
          </p:nvPr>
        </p:nvSpPr>
        <p:spPr>
          <a:xfrm>
            <a:off x="230832" y="1091877"/>
            <a:ext cx="8229600" cy="4929411"/>
          </a:xfrm>
        </p:spPr>
        <p:txBody>
          <a:bodyPr>
            <a:normAutofit/>
          </a:bodyPr>
          <a:lstStyle/>
          <a:p>
            <a:pPr marL="97155" lvl="1" indent="71755" algn="just">
              <a:buNone/>
            </a:pPr>
            <a:r>
              <a:rPr lang="fr-F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 le </a:t>
            </a:r>
            <a:r>
              <a:rPr lang="fr-FR" sz="2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théorique, </a:t>
            </a:r>
            <a:r>
              <a:rPr lang="fr-FR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signal est représenté par une fonction réelle ou complexe qui permet son étude de façon plus aisée. Ainsi les modèles utilisés possèdent des caractéristiques différentes des signaux expérimentaux :</a:t>
            </a:r>
            <a:endParaRPr lang="fr-FR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-612576" y="2924944"/>
            <a:ext cx="9756576" cy="1446550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pPr lvl="2">
              <a:buFont typeface="Wingdings" panose="05000000000000000000" pitchFamily="2" charset="2"/>
              <a:buChar char="Ø"/>
            </a:pPr>
            <a:r>
              <a:rPr lang="fr-FR" sz="2200" dirty="0">
                <a:solidFill>
                  <a:srgbClr val="00B050"/>
                </a:solidFill>
                <a:cs typeface="Arial" panose="020B0604020202020204" pitchFamily="34" charset="0"/>
              </a:rPr>
              <a:t> à énergie théorique infinie,    </a:t>
            </a:r>
            <a:endParaRPr lang="fr-FR" sz="2200" dirty="0">
              <a:solidFill>
                <a:srgbClr val="00B050"/>
              </a:solidFill>
              <a:cs typeface="Arial" panose="020B0604020202020204" pitchFamily="34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200" dirty="0">
                <a:solidFill>
                  <a:srgbClr val="00B050"/>
                </a:solidFill>
                <a:cs typeface="Arial" panose="020B0604020202020204" pitchFamily="34" charset="0"/>
              </a:rPr>
              <a:t> à amplitude non bornée,</a:t>
            </a:r>
            <a:endParaRPr lang="fr-FR" sz="2200" dirty="0">
              <a:solidFill>
                <a:srgbClr val="00B050"/>
              </a:solidFill>
              <a:cs typeface="Arial" panose="020B0604020202020204" pitchFamily="34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200" dirty="0">
                <a:solidFill>
                  <a:srgbClr val="00B050"/>
                </a:solidFill>
                <a:cs typeface="Arial" panose="020B0604020202020204" pitchFamily="34" charset="0"/>
              </a:rPr>
              <a:t> ayant des  discontinuités, </a:t>
            </a:r>
            <a:endParaRPr lang="fr-FR" sz="2200" dirty="0">
              <a:solidFill>
                <a:srgbClr val="00B050"/>
              </a:solidFill>
              <a:cs typeface="Arial" panose="020B0604020202020204" pitchFamily="34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endParaRPr lang="fr-FR" sz="2200" dirty="0">
              <a:solidFill>
                <a:srgbClr val="00B050"/>
              </a:solidFill>
              <a:cs typeface="Arial" panose="020B0604020202020204" pitchFamily="34" charset="0"/>
            </a:endParaRPr>
          </a:p>
          <a:p>
            <a:pPr marL="817880">
              <a:buFont typeface="Wingdings" panose="05000000000000000000" pitchFamily="2" charset="2"/>
              <a:buChar char="Ø"/>
            </a:pPr>
            <a:r>
              <a:rPr lang="fr-FR" sz="2200" dirty="0">
                <a:solidFill>
                  <a:srgbClr val="00B050"/>
                </a:solidFill>
                <a:cs typeface="Arial" panose="020B0604020202020204" pitchFamily="34" charset="0"/>
              </a:rPr>
              <a:t> définie sur ℝ ou ℂ,</a:t>
            </a:r>
            <a:endParaRPr lang="fr-FR" sz="2200" dirty="0">
              <a:solidFill>
                <a:srgbClr val="00B050"/>
              </a:solidFill>
              <a:cs typeface="Arial" panose="020B0604020202020204" pitchFamily="34" charset="0"/>
            </a:endParaRPr>
          </a:p>
          <a:p>
            <a:pPr marL="817880">
              <a:buFont typeface="Wingdings" panose="05000000000000000000" pitchFamily="2" charset="2"/>
              <a:buChar char="Ø"/>
            </a:pPr>
            <a:r>
              <a:rPr lang="fr-FR" sz="2200" dirty="0">
                <a:solidFill>
                  <a:srgbClr val="00B050"/>
                </a:solidFill>
                <a:cs typeface="Arial" panose="020B0604020202020204" pitchFamily="34" charset="0"/>
              </a:rPr>
              <a:t> à support non borné   (observé durant un temps infini)</a:t>
            </a:r>
            <a:endParaRPr lang="fr-FR" sz="2200" dirty="0">
              <a:solidFill>
                <a:srgbClr val="00B050"/>
              </a:solidFill>
              <a:cs typeface="Arial" panose="020B0604020202020204" pitchFamily="34" charset="0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1" cstate="print"/>
          <a:stretch>
            <a:fillRect/>
          </a:stretch>
        </p:blipFill>
        <p:spPr bwMode="auto">
          <a:xfrm>
            <a:off x="539552" y="4381500"/>
            <a:ext cx="7820025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DC86F6-FF12-4163-9725-853D7DE7119A}" type="slidenum">
              <a:rPr lang="fr-FR" smtClean="0"/>
            </a:fld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Lucida Bright"/>
        <a:ea typeface="BatangChe"/>
        <a:cs typeface="Lucida Sans Unicode"/>
      </a:majorFont>
      <a:minorFont>
        <a:latin typeface="Arial Unicode MS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ception personnalisée">
  <a:themeElements>
    <a:clrScheme name="Conception personnalisé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nception personnalisé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Conception personnalisé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11047</Words>
  <Application>WPS Presentation</Application>
  <PresentationFormat>On-screen Show (4:3)</PresentationFormat>
  <Paragraphs>695</Paragraphs>
  <Slides>44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67" baseType="lpstr">
      <vt:lpstr>Arial</vt:lpstr>
      <vt:lpstr>SimSun</vt:lpstr>
      <vt:lpstr>Wingdings</vt:lpstr>
      <vt:lpstr>Arial Unicode MS</vt:lpstr>
      <vt:lpstr>Lucida Bright</vt:lpstr>
      <vt:lpstr>BatangChe</vt:lpstr>
      <vt:lpstr>Malgun Gothic</vt:lpstr>
      <vt:lpstr>Lucida Sans Unicode</vt:lpstr>
      <vt:lpstr>Cambria Math</vt:lpstr>
      <vt:lpstr>TIMES</vt:lpstr>
      <vt:lpstr>Traditional Arabic</vt:lpstr>
      <vt:lpstr>Monotype Sorts</vt:lpstr>
      <vt:lpstr>Century Gothic</vt:lpstr>
      <vt:lpstr>Microsoft YaHei</vt:lpstr>
      <vt:lpstr>Arial Unicode MS</vt:lpstr>
      <vt:lpstr>Calibri</vt:lpstr>
      <vt:lpstr>Cambria Math</vt:lpstr>
      <vt:lpstr>Wingdings</vt:lpstr>
      <vt:lpstr>Helvetica-Bold</vt:lpstr>
      <vt:lpstr>Segoe Print</vt:lpstr>
      <vt:lpstr>Helvetica</vt:lpstr>
      <vt:lpstr>Modèle par défaut</vt:lpstr>
      <vt:lpstr>Conception personnalisée</vt:lpstr>
      <vt:lpstr>PowerPoint 演示文稿</vt:lpstr>
      <vt:lpstr>Les différentes classes de signaux</vt:lpstr>
      <vt:lpstr>1- Classification en fonction du nombre de variables </vt:lpstr>
      <vt:lpstr>2- Signaux réels / complexes</vt:lpstr>
      <vt:lpstr>3-  Signaux déterministes /  aléatoires</vt:lpstr>
      <vt:lpstr>3- Signaux déterministes / aléatoires</vt:lpstr>
      <vt:lpstr>3-  Signaux déterministes /  aléatoires</vt:lpstr>
      <vt:lpstr>4- Signaux continus / discrets</vt:lpstr>
      <vt:lpstr>4- Signaux continus / discrets</vt:lpstr>
      <vt:lpstr>4- Signaux continus / discrets</vt:lpstr>
      <vt:lpstr>4- Signaux continus / discrets</vt:lpstr>
      <vt:lpstr>4- Signaux continus / discrets</vt:lpstr>
      <vt:lpstr>4- Signaux continus / discrets</vt:lpstr>
      <vt:lpstr>5- Classification énergétique</vt:lpstr>
      <vt:lpstr>5- Classification énergétique</vt:lpstr>
      <vt:lpstr>5- Classification énergétique</vt:lpstr>
      <vt:lpstr>5- Classification énergétique</vt:lpstr>
      <vt:lpstr>5- Classification énergétique</vt:lpstr>
      <vt:lpstr>5- Classification énergétique</vt:lpstr>
      <vt:lpstr>5- Classification énergétique</vt:lpstr>
      <vt:lpstr>5- Classification énergétique</vt:lpstr>
      <vt:lpstr>Propriétés d’un signal</vt:lpstr>
      <vt:lpstr>Propriétés d’un signal</vt:lpstr>
      <vt:lpstr>Propriétés d’un signal</vt:lpstr>
      <vt:lpstr>Propriétés d’un signal</vt:lpstr>
      <vt:lpstr>Propriétés d’un signal</vt:lpstr>
      <vt:lpstr>Propriétés d’un signal</vt:lpstr>
      <vt:lpstr>Propriétés d’un signal</vt:lpstr>
      <vt:lpstr>Quelques signaux élémentaires</vt:lpstr>
      <vt:lpstr>Quelques signaux élémentaires</vt:lpstr>
      <vt:lpstr>Quelques signaux élémentaires</vt:lpstr>
      <vt:lpstr>Quelques signaux élémentaires</vt:lpstr>
      <vt:lpstr>Quelques signaux élémentaires</vt:lpstr>
      <vt:lpstr>Quelques signaux élémentaires</vt:lpstr>
      <vt:lpstr>Quelques signaux élémentaires</vt:lpstr>
      <vt:lpstr>PowerPoint 演示文稿</vt:lpstr>
      <vt:lpstr>La distribution de Dirac</vt:lpstr>
      <vt:lpstr>PowerPoint 演示文稿</vt:lpstr>
      <vt:lpstr>La distribution de Dirac</vt:lpstr>
      <vt:lpstr>Peigne de Dirac</vt:lpstr>
      <vt:lpstr>Peigne de Dirac</vt:lpstr>
      <vt:lpstr>Conclusion</vt:lpstr>
      <vt:lpstr>Remarques </vt:lpstr>
      <vt:lpstr>Remarques</vt:lpstr>
    </vt:vector>
  </TitlesOfParts>
  <Company>LAMI78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Traitement du Signal</dc:title>
  <dc:creator>Wided</dc:creator>
  <cp:lastModifiedBy>WPS_1775918412</cp:lastModifiedBy>
  <cp:revision>663</cp:revision>
  <cp:lastPrinted>2025-10-10T20:10:00Z</cp:lastPrinted>
  <dcterms:created xsi:type="dcterms:W3CDTF">2011-10-07T07:47:00Z</dcterms:created>
  <dcterms:modified xsi:type="dcterms:W3CDTF">2026-05-25T21:49:57Z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DDAC028229624E8EAFADEC6EF77F33E8_12</vt:lpwstr>
  </property>
  <property fmtid="{D5CDD505-2E9C-101B-9397-08002B2CF9AE}" pid="3" name="KSOProductBuildVer">
    <vt:lpwstr>1033-12.1.0.26372</vt:lpwstr>
  </property>
</Properties>
</file>