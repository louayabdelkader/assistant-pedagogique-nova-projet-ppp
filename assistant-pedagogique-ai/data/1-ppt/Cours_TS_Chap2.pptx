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38"/>
  </p:handoutMasterIdLst>
  <p:sldIdLst>
    <p:sldId id="547" r:id="rId4"/>
    <p:sldId id="548" r:id="rId6"/>
    <p:sldId id="549" r:id="rId7"/>
    <p:sldId id="550" r:id="rId8"/>
    <p:sldId id="785" r:id="rId9"/>
    <p:sldId id="569" r:id="rId10"/>
    <p:sldId id="552" r:id="rId11"/>
    <p:sldId id="553" r:id="rId12"/>
    <p:sldId id="554" r:id="rId13"/>
    <p:sldId id="555" r:id="rId14"/>
    <p:sldId id="779" r:id="rId15"/>
    <p:sldId id="780" r:id="rId16"/>
    <p:sldId id="781" r:id="rId17"/>
    <p:sldId id="782" r:id="rId18"/>
    <p:sldId id="783" r:id="rId19"/>
    <p:sldId id="784" r:id="rId20"/>
    <p:sldId id="556" r:id="rId21"/>
    <p:sldId id="725" r:id="rId22"/>
    <p:sldId id="558" r:id="rId23"/>
    <p:sldId id="724" r:id="rId24"/>
    <p:sldId id="721" r:id="rId25"/>
    <p:sldId id="576" r:id="rId26"/>
    <p:sldId id="577" r:id="rId27"/>
    <p:sldId id="578" r:id="rId28"/>
    <p:sldId id="580" r:id="rId29"/>
    <p:sldId id="581" r:id="rId30"/>
    <p:sldId id="582" r:id="rId31"/>
    <p:sldId id="583" r:id="rId32"/>
    <p:sldId id="560" r:id="rId33"/>
    <p:sldId id="726" r:id="rId34"/>
    <p:sldId id="727" r:id="rId35"/>
    <p:sldId id="562" r:id="rId36"/>
    <p:sldId id="728" r:id="rId37"/>
  </p:sldIdLst>
  <p:sldSz cx="9144000" cy="6858000" type="screen4x3"/>
  <p:notesSz cx="7099300" cy="1023429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24CAC"/>
    <a:srgbClr val="505ABC"/>
    <a:srgbClr val="00A249"/>
    <a:srgbClr val="FF3300"/>
    <a:srgbClr val="343C88"/>
    <a:srgbClr val="FF0000"/>
    <a:srgbClr val="FC9804"/>
    <a:srgbClr val="CC0099"/>
    <a:srgbClr val="EDE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82330" autoAdjust="0"/>
  </p:normalViewPr>
  <p:slideViewPr>
    <p:cSldViewPr showGuides="1">
      <p:cViewPr varScale="1">
        <p:scale>
          <a:sx n="70" d="100"/>
          <a:sy n="70" d="100"/>
        </p:scale>
        <p:origin x="1771" y="53"/>
      </p:cViewPr>
      <p:guideLst>
        <p:guide orient="horz" pos="2160"/>
        <p:guide pos="29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088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869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088" y="9721869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4FB16-1D46-486F-9983-A0F1EA4E7350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0" y="4861782"/>
            <a:ext cx="5678824" cy="4604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fr-FR" noProof="0"/>
              <a:t>Cliquez pour modifier les styles du texte du masque</a:t>
            </a:r>
            <a:endParaRPr lang="fr-FR" noProof="0"/>
          </a:p>
          <a:p>
            <a:pPr lvl="1"/>
            <a:r>
              <a:rPr lang="fr-FR" noProof="0"/>
              <a:t>Deuxième niveau</a:t>
            </a:r>
            <a:endParaRPr lang="fr-FR" noProof="0"/>
          </a:p>
          <a:p>
            <a:pPr lvl="2"/>
            <a:r>
              <a:rPr lang="fr-FR" noProof="0"/>
              <a:t>Troisième niveau</a:t>
            </a:r>
            <a:endParaRPr lang="fr-FR" noProof="0"/>
          </a:p>
          <a:p>
            <a:pPr lvl="3"/>
            <a:r>
              <a:rPr lang="fr-FR" noProof="0"/>
              <a:t>Quatrième niveau</a:t>
            </a:r>
            <a:endParaRPr lang="fr-FR" noProof="0"/>
          </a:p>
          <a:p>
            <a:pPr lvl="4"/>
            <a:r>
              <a:rPr lang="fr-FR" noProof="0"/>
              <a:t>Cinquième niveau</a:t>
            </a:r>
            <a:endParaRPr lang="fr-FR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65EE4EA-C85E-4BFB-A0CA-9F41B6562BAE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7CB817C9-8F60-4759-B523-5257BEDAFC6C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08BDAD84-A966-424A-99FC-1473E07DE564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6E96DEE3-C705-414B-80C1-E024ABBF2B9F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38B0F04-5C63-4349-B6D1-FEC80E29A388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E48CDB91-0A10-488F-B840-23BC0A9CDE2F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966D6DC-AA41-41EE-8936-69D05556F547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1E856A0-F509-4A5C-901E-CA1A93E18DA3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6023D09C-2324-4B66-9B99-5A161C6B1ADD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C9AF9104-23A6-4359-B644-282ACA0CD6BD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AA25721E-9BC8-44B0-9CB1-DA16C1F975D0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40513" y="188913"/>
            <a:ext cx="2057400" cy="60817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88913"/>
            <a:ext cx="6019800" cy="60817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DCE7D99E-5044-4553-9770-F6DFB78C7AD5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13DC86F6-FF12-4163-9725-853D7DE7119A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 hasCustomPrompt="1"/>
          </p:nvPr>
        </p:nvSpPr>
        <p:spPr>
          <a:xfrm>
            <a:off x="4683125" y="1196975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 hasCustomPrompt="1"/>
          </p:nvPr>
        </p:nvSpPr>
        <p:spPr>
          <a:xfrm>
            <a:off x="4683125" y="3810000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F4B697E3-4789-4F0C-921E-AD82779A1BF3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7A36E-500E-440D-928D-54718C37283F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A3B70-B14A-436E-A25A-DC920D000FB6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C9B89-E718-4689-8B6C-3FE887FC8C50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356FA-73D1-4110-874D-58500705B62D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2C973-2818-4C75-872B-96927084F38C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2BE87-67C1-457C-B1E9-BA05F2AA7478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107A-443F-4D54-8CC5-B08CBA3AAF1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0889F-B378-4E58-8347-0850BE086871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6E5CE-5A90-44F0-902B-A32F3DAC45F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C9125-A11A-42C1-B0F1-A8F38AE32D25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B66E-2000-477F-A909-97254E0E2AAF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13DC86F6-FF12-4163-9725-853D7DE7119A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719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fr-FR"/>
              <a:t>Bibliographie</a:t>
            </a: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7993062" cy="5073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/>
              <a:t>Définitions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43438" y="6381750"/>
            <a:ext cx="4043362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E1ADF893-134E-4535-BF61-452246B809C9}" type="slidenum">
              <a:rPr lang="fr-FR"/>
            </a:fld>
            <a:r>
              <a:rPr lang="fr-FR"/>
              <a:t>/49</a:t>
            </a:r>
            <a:endParaRPr lang="fr-FR"/>
          </a:p>
        </p:txBody>
      </p:sp>
      <p:grpSp>
        <p:nvGrpSpPr>
          <p:cNvPr id="10247" name="Group 7"/>
          <p:cNvGrpSpPr/>
          <p:nvPr userDrawn="1"/>
        </p:nvGrpSpPr>
        <p:grpSpPr bwMode="auto">
          <a:xfrm>
            <a:off x="468313" y="908050"/>
            <a:ext cx="431800" cy="431800"/>
            <a:chOff x="476" y="2659"/>
            <a:chExt cx="409" cy="409"/>
          </a:xfrm>
        </p:grpSpPr>
        <p:sp>
          <p:nvSpPr>
            <p:cNvPr id="1032" name="Line 8"/>
            <p:cNvSpPr>
              <a:spLocks noChangeShapeType="1"/>
            </p:cNvSpPr>
            <p:nvPr/>
          </p:nvSpPr>
          <p:spPr bwMode="auto">
            <a:xfrm flipV="1">
              <a:off x="476" y="2659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3" name="Line 9"/>
            <p:cNvSpPr>
              <a:spLocks noChangeShapeType="1"/>
            </p:cNvSpPr>
            <p:nvPr/>
          </p:nvSpPr>
          <p:spPr bwMode="auto">
            <a:xfrm>
              <a:off x="476" y="265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48" name="Group 10"/>
          <p:cNvGrpSpPr/>
          <p:nvPr userDrawn="1"/>
        </p:nvGrpSpPr>
        <p:grpSpPr bwMode="auto">
          <a:xfrm>
            <a:off x="468313" y="5949950"/>
            <a:ext cx="431800" cy="431800"/>
            <a:chOff x="2018" y="1842"/>
            <a:chExt cx="408" cy="409"/>
          </a:xfrm>
        </p:grpSpPr>
        <p:sp>
          <p:nvSpPr>
            <p:cNvPr id="1035" name="Line 11"/>
            <p:cNvSpPr>
              <a:spLocks noChangeShapeType="1"/>
            </p:cNvSpPr>
            <p:nvPr/>
          </p:nvSpPr>
          <p:spPr bwMode="auto">
            <a:xfrm>
              <a:off x="2018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6" name="Line 12"/>
            <p:cNvSpPr>
              <a:spLocks noChangeShapeType="1"/>
            </p:cNvSpPr>
            <p:nvPr/>
          </p:nvSpPr>
          <p:spPr bwMode="auto">
            <a:xfrm flipV="1">
              <a:off x="2018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49" name="Group 13"/>
          <p:cNvGrpSpPr/>
          <p:nvPr userDrawn="1"/>
        </p:nvGrpSpPr>
        <p:grpSpPr bwMode="auto">
          <a:xfrm>
            <a:off x="8243888" y="908050"/>
            <a:ext cx="431800" cy="431800"/>
            <a:chOff x="2018" y="1842"/>
            <a:chExt cx="408" cy="409"/>
          </a:xfrm>
        </p:grpSpPr>
        <p:sp>
          <p:nvSpPr>
            <p:cNvPr id="1038" name="Line 14"/>
            <p:cNvSpPr>
              <a:spLocks noChangeShapeType="1"/>
            </p:cNvSpPr>
            <p:nvPr/>
          </p:nvSpPr>
          <p:spPr bwMode="auto">
            <a:xfrm>
              <a:off x="2018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2426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50" name="Group 16"/>
          <p:cNvGrpSpPr/>
          <p:nvPr userDrawn="1"/>
        </p:nvGrpSpPr>
        <p:grpSpPr bwMode="auto">
          <a:xfrm>
            <a:off x="8243888" y="5949950"/>
            <a:ext cx="431800" cy="431800"/>
            <a:chOff x="2018" y="1842"/>
            <a:chExt cx="408" cy="409"/>
          </a:xfrm>
        </p:grpSpPr>
        <p:sp>
          <p:nvSpPr>
            <p:cNvPr id="1041" name="Line 17"/>
            <p:cNvSpPr>
              <a:spLocks noChangeShapeType="1"/>
            </p:cNvSpPr>
            <p:nvPr/>
          </p:nvSpPr>
          <p:spPr bwMode="auto">
            <a:xfrm>
              <a:off x="2426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42" name="Line 18"/>
            <p:cNvSpPr>
              <a:spLocks noChangeShapeType="1"/>
            </p:cNvSpPr>
            <p:nvPr/>
          </p:nvSpPr>
          <p:spPr bwMode="auto">
            <a:xfrm flipH="1">
              <a:off x="2018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155000"/>
        <a:buFont typeface="Wingdings" panose="05000000000000000000" pitchFamily="2" charset="2"/>
        <a:buBlip>
          <a:blip r:embed="rId14"/>
        </a:buBlip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30000"/>
        <a:buFont typeface="Wingdings" panose="05000000000000000000" pitchFamily="2" charset="2"/>
        <a:buBlip>
          <a:blip r:embed="rId15"/>
        </a:buBlip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6EF669-981F-44AE-A971-01F55E1F6B92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dirty="0"/>
              <a:t>				</a:t>
            </a:r>
            <a:r>
              <a:rPr lang="fr-FR" dirty="0">
                <a:solidFill>
                  <a:srgbClr val="FF0000"/>
                </a:solidFill>
              </a:rPr>
              <a:t>   Chapitre 2</a:t>
            </a:r>
            <a:endParaRPr lang="fr-FR" dirty="0">
              <a:solidFill>
                <a:srgbClr val="FF0000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sz="4000" dirty="0">
                <a:solidFill>
                  <a:srgbClr val="FF0000"/>
                </a:solidFill>
              </a:rPr>
              <a:t>Systèmes linéaires continus</a:t>
            </a:r>
            <a:endParaRPr lang="fr-FR" sz="4000" dirty="0">
              <a:solidFill>
                <a:srgbClr val="FF0000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FF0000"/>
                </a:solidFill>
              </a:rPr>
              <a:t>Définition et caractérisation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40210" y="312068"/>
            <a:ext cx="784887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Contenu du cours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18573" y="1187217"/>
            <a:ext cx="880379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SzPct val="80000"/>
              <a:buFont typeface="Wingdings" panose="05000000000000000000" pitchFamily="2" charset="2"/>
              <a:buChar char="§"/>
            </a:pPr>
            <a:r>
              <a:rPr lang="fr-FR" sz="2400" dirty="0">
                <a:cs typeface="Arial" panose="020B0604020202020204" pitchFamily="34" charset="0"/>
              </a:rPr>
              <a:t> Introduction </a:t>
            </a:r>
            <a:endParaRPr lang="fr-FR" sz="2400" dirty="0">
              <a:cs typeface="Arial" panose="020B0604020202020204" pitchFamily="34" charset="0"/>
            </a:endParaRPr>
          </a:p>
          <a:p>
            <a:pPr algn="just"/>
            <a:endParaRPr lang="fr-FR" sz="24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914400" lvl="1" indent="-457200" algn="just">
              <a:buSzPct val="76000"/>
              <a:buFont typeface="Wingdings" panose="05000000000000000000" pitchFamily="2" charset="2"/>
              <a:buChar char="§"/>
            </a:pPr>
            <a:r>
              <a:rPr lang="fr-FR" sz="2400" dirty="0">
                <a:cs typeface="Arial" panose="020B0604020202020204" pitchFamily="34" charset="0"/>
              </a:rPr>
              <a:t>Définition d'un système </a:t>
            </a:r>
            <a:endParaRPr lang="fr-FR" sz="2400" dirty="0">
              <a:cs typeface="Arial" panose="020B0604020202020204" pitchFamily="34" charset="0"/>
            </a:endParaRPr>
          </a:p>
          <a:p>
            <a:pPr marL="914400" lvl="1" indent="-457200" algn="just">
              <a:buSzPct val="76000"/>
              <a:buFont typeface="Wingdings" panose="05000000000000000000" pitchFamily="2" charset="2"/>
              <a:buChar char="§"/>
            </a:pPr>
            <a:endParaRPr lang="fr-FR" sz="2400" dirty="0">
              <a:cs typeface="Arial" panose="020B0604020202020204" pitchFamily="34" charset="0"/>
            </a:endParaRPr>
          </a:p>
          <a:p>
            <a:pPr marL="914400" lvl="1" indent="-457200" algn="just">
              <a:buSzPct val="76000"/>
              <a:buFont typeface="Wingdings" panose="05000000000000000000" pitchFamily="2" charset="2"/>
              <a:buChar char="§"/>
            </a:pPr>
            <a:r>
              <a:rPr lang="fr-FR" sz="2400" dirty="0">
                <a:cs typeface="Arial" panose="020B0604020202020204" pitchFamily="34" charset="0"/>
              </a:rPr>
              <a:t>Classification des systèmes </a:t>
            </a:r>
            <a:endParaRPr lang="fr-FR" sz="2400" dirty="0">
              <a:cs typeface="Arial" panose="020B0604020202020204" pitchFamily="34" charset="0"/>
            </a:endParaRPr>
          </a:p>
          <a:p>
            <a:pPr marL="914400" lvl="1" indent="-457200" algn="just">
              <a:buSzPct val="76000"/>
              <a:buFont typeface="Wingdings" panose="05000000000000000000" pitchFamily="2" charset="2"/>
              <a:buChar char="§"/>
            </a:pPr>
            <a:endParaRPr lang="fr-FR" sz="2400" dirty="0">
              <a:cs typeface="Arial" panose="020B0604020202020204" pitchFamily="34" charset="0"/>
            </a:endParaRPr>
          </a:p>
          <a:p>
            <a:pPr marL="535305" indent="-84455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43C88"/>
                </a:solidFill>
                <a:cs typeface="Arial" panose="020B0604020202020204" pitchFamily="34" charset="0"/>
              </a:rPr>
              <a:t>    Caractérisation temporelle: </a:t>
            </a:r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Réponse d'un système LTI à une  </a:t>
            </a:r>
            <a:endParaRPr lang="fr-FR" sz="20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450850" algn="just"/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                                                             entrée</a:t>
            </a:r>
            <a:endParaRPr lang="fr-FR" sz="22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1371600" lvl="2" indent="-457200" algn="just">
              <a:lnSpc>
                <a:spcPts val="2100"/>
              </a:lnSpc>
              <a:buSzPct val="76000"/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Réponse impulsionnelle</a:t>
            </a:r>
            <a:endParaRPr lang="fr-FR" sz="2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1371600" lvl="2" indent="-457200" algn="just">
              <a:lnSpc>
                <a:spcPts val="2100"/>
              </a:lnSpc>
              <a:buSzPct val="76000"/>
              <a:buFont typeface="Wingdings" panose="05000000000000000000" pitchFamily="2" charset="2"/>
              <a:buChar char="§"/>
            </a:pPr>
            <a:endParaRPr lang="fr-FR" sz="2200" dirty="0">
              <a:cs typeface="Arial" panose="020B0604020202020204" pitchFamily="34" charset="0"/>
            </a:endParaRPr>
          </a:p>
          <a:p>
            <a:pPr marL="1371600" lvl="2" indent="-457200" algn="just">
              <a:lnSpc>
                <a:spcPts val="2100"/>
              </a:lnSpc>
              <a:buSzPct val="76000"/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Notion de convolution</a:t>
            </a:r>
            <a:endParaRPr lang="fr-FR" sz="2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1371600" lvl="2" indent="-457200" algn="just">
              <a:lnSpc>
                <a:spcPts val="2100"/>
              </a:lnSpc>
              <a:buSzPct val="76000"/>
              <a:buFont typeface="Wingdings" panose="05000000000000000000" pitchFamily="2" charset="2"/>
              <a:buChar char="§"/>
            </a:pPr>
            <a:endParaRPr lang="fr-FR" sz="2200" dirty="0">
              <a:cs typeface="Arial" panose="020B0604020202020204" pitchFamily="34" charset="0"/>
            </a:endParaRPr>
          </a:p>
          <a:p>
            <a:pPr marL="1371600" lvl="2" indent="-457200" algn="just">
              <a:lnSpc>
                <a:spcPts val="2100"/>
              </a:lnSpc>
              <a:buSzPct val="76000"/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Réponse à une entrée quelconque </a:t>
            </a:r>
            <a:endParaRPr lang="fr-FR" sz="2200" dirty="0">
              <a:solidFill>
                <a:schemeClr val="accent5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Introduction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96766" y="665408"/>
            <a:ext cx="86242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  <a:p>
            <a:pPr algn="just"/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rgbClr val="343C88"/>
                </a:solidFill>
                <a:latin typeface="+mn-lt"/>
              </a:rPr>
              <a:t>Exemples de systèmes </a:t>
            </a:r>
            <a:endParaRPr lang="fr-FR" sz="2600" dirty="0">
              <a:solidFill>
                <a:srgbClr val="343C88"/>
              </a:solidFill>
              <a:latin typeface="+mn-lt"/>
            </a:endParaRPr>
          </a:p>
          <a:p>
            <a:pPr lvl="1" algn="just">
              <a:buSzPct val="76000"/>
            </a:pPr>
            <a:endParaRPr lang="fr-FR" sz="2600" dirty="0">
              <a:latin typeface="+mn-lt"/>
            </a:endParaRPr>
          </a:p>
          <a:p>
            <a:pPr lvl="1" algn="just">
              <a:buSzPct val="76000"/>
            </a:pPr>
            <a:endParaRPr lang="fr-FR" sz="2600" dirty="0">
              <a:latin typeface="+mn-lt"/>
            </a:endParaRPr>
          </a:p>
          <a:p>
            <a:pPr lvl="1" algn="just">
              <a:buSzPct val="76000"/>
            </a:pPr>
            <a:endParaRPr lang="fr-FR" sz="2600" dirty="0">
              <a:latin typeface="+mn-lt"/>
            </a:endParaRPr>
          </a:p>
          <a:p>
            <a:pPr lvl="1" algn="just">
              <a:buSzPct val="76000"/>
            </a:pPr>
            <a:endParaRPr lang="fr-FR" sz="2600" dirty="0">
              <a:latin typeface="+mn-lt"/>
            </a:endParaRPr>
          </a:p>
          <a:p>
            <a:pPr algn="just"/>
            <a:endParaRPr lang="fr-FR" sz="2600" dirty="0">
              <a:solidFill>
                <a:srgbClr val="00B050"/>
              </a:solidFill>
              <a:latin typeface="+mn-lt"/>
            </a:endParaRPr>
          </a:p>
          <a:p>
            <a:pPr lvl="1" algn="just">
              <a:buSzPct val="76000"/>
            </a:pP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73" y="2510563"/>
            <a:ext cx="3190875" cy="176212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80" y="2329902"/>
            <a:ext cx="2419350" cy="20288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544" y="2430240"/>
            <a:ext cx="3095626" cy="1733551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Définition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7504" y="1124744"/>
            <a:ext cx="862427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600" dirty="0">
                <a:latin typeface="+mn-lt"/>
              </a:rPr>
              <a:t> </a:t>
            </a:r>
            <a:endParaRPr lang="fr-FR" sz="2600" dirty="0">
              <a:solidFill>
                <a:srgbClr val="00B050"/>
              </a:solidFill>
              <a:latin typeface="+mn-lt"/>
            </a:endParaRPr>
          </a:p>
          <a:p>
            <a:pPr marL="173355" lvl="1" algn="just">
              <a:buSzPct val="76000"/>
            </a:pPr>
            <a:r>
              <a:rPr lang="fr-FR" sz="2100" dirty="0">
                <a:solidFill>
                  <a:srgbClr val="FF0000"/>
                </a:solidFill>
                <a:latin typeface="+mn-lt"/>
              </a:rPr>
              <a:t>Un système est un ensemble d'éléments fonctionnels interagissant entre eux et qui établit un lien de cause à effet entre ses signaux d'entrées et ses signaux de sortie</a:t>
            </a:r>
            <a:endParaRPr lang="fr-FR" sz="2100" dirty="0">
              <a:solidFill>
                <a:srgbClr val="FF0000"/>
              </a:solidFill>
              <a:latin typeface="+mn-lt"/>
            </a:endParaRPr>
          </a:p>
          <a:p>
            <a:pPr lvl="1" algn="just">
              <a:buSzPct val="76000"/>
            </a:pP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3423284"/>
            <a:ext cx="6677025" cy="2190750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Définition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275" y="1052736"/>
            <a:ext cx="7096125" cy="69532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330103" y="1593269"/>
            <a:ext cx="8624278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600" dirty="0">
                <a:latin typeface="+mn-lt"/>
              </a:rPr>
              <a:t> </a:t>
            </a:r>
            <a:endParaRPr lang="fr-FR" sz="2600" dirty="0">
              <a:solidFill>
                <a:srgbClr val="00B050"/>
              </a:solidFill>
              <a:latin typeface="+mn-lt"/>
            </a:endParaRPr>
          </a:p>
          <a:p>
            <a:pPr marL="173355" lvl="1" algn="just">
              <a:buSzPct val="76000"/>
            </a:pPr>
            <a:r>
              <a:rPr lang="fr-FR" sz="2100" dirty="0">
                <a:solidFill>
                  <a:srgbClr val="FF0000"/>
                </a:solidFill>
                <a:latin typeface="+mn-lt"/>
              </a:rPr>
              <a:t>Un système est une entité qui transforme un signal d’ entrée en un signal de sortie.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" y="3054359"/>
            <a:ext cx="8953500" cy="33909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" y="4728459"/>
            <a:ext cx="1571625" cy="16002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667" y="3785484"/>
            <a:ext cx="2847975" cy="25431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570" y="2644775"/>
            <a:ext cx="21526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Classification des systèmes</a:t>
            </a:r>
            <a:endParaRPr lang="fr-FR" sz="32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296766" y="665408"/>
                <a:ext cx="8739730" cy="2646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400" dirty="0">
                  <a:solidFill>
                    <a:srgbClr val="343C88"/>
                  </a:solidFill>
                  <a:latin typeface="+mn-lt"/>
                </a:endParaRPr>
              </a:p>
              <a:p>
                <a:pPr marL="342900" indent="-3429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r>
                  <a:rPr lang="fr-FR" sz="2400" dirty="0">
                    <a:solidFill>
                      <a:srgbClr val="343C88"/>
                    </a:solidFill>
                    <a:latin typeface="+mn-lt"/>
                  </a:rPr>
                  <a:t>Systèmes mono-variable et multi-variable </a:t>
                </a:r>
                <a:endParaRPr lang="fr-FR" sz="2400" dirty="0">
                  <a:solidFill>
                    <a:srgbClr val="343C88"/>
                  </a:solidFill>
                  <a:latin typeface="+mn-lt"/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Mono-variable </a:t>
                </a:r>
                <a:r>
                  <a:rPr lang="fr-FR" sz="2000" dirty="0">
                    <a:latin typeface="+mn-lt"/>
                  </a:rPr>
                  <a:t>: système à une entrée et une sortie </a:t>
                </a:r>
                <a:endParaRPr lang="fr-FR" sz="2000" dirty="0">
                  <a:latin typeface="+mn-lt"/>
                </a:endParaRPr>
              </a:p>
              <a:p>
                <a:pPr lvl="1" algn="just"/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Multi-variable</a:t>
                </a:r>
                <a:r>
                  <a:rPr lang="fr-FR" sz="2000" dirty="0">
                    <a:latin typeface="+mn-lt"/>
                  </a:rPr>
                  <a:t> : nombre d'entrées + nombre de sorties &gt; 2</a:t>
                </a:r>
                <a:endParaRPr lang="fr-FR" sz="2000" dirty="0">
                  <a:latin typeface="+mn-lt"/>
                </a:endParaRPr>
              </a:p>
              <a:p>
                <a:pPr lvl="1" algn="just"/>
                <a:endParaRPr lang="fr-FR" sz="2000" dirty="0">
                  <a:latin typeface="+mn-lt"/>
                </a:endParaRPr>
              </a:p>
              <a:p>
                <a:pPr marL="425450" lvl="1" indent="-342900" algn="just">
                  <a:buSzPct val="80000"/>
                  <a:buFont typeface="Wingdings" panose="05000000000000000000" pitchFamily="2" charset="2"/>
                  <a:buChar char="q"/>
                </a:pPr>
                <a:r>
                  <a:rPr lang="fr-FR" sz="2400" dirty="0">
                    <a:solidFill>
                      <a:srgbClr val="343C88"/>
                    </a:solidFill>
                  </a:rPr>
                  <a:t>Linéarité</a:t>
                </a:r>
                <a:endParaRPr lang="fr-FR" sz="2400" dirty="0">
                  <a:solidFill>
                    <a:srgbClr val="343C88"/>
                  </a:solidFill>
                  <a:latin typeface="+mn-lt"/>
                </a:endParaRPr>
              </a:p>
              <a:p>
                <a:pPr algn="just"/>
                <a:r>
                  <a:rPr lang="fr-FR" sz="2400" b="0" dirty="0"/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>
                    <a:latin typeface="+mn-lt"/>
                  </a:rPr>
                  <a:t> alors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fr-FR" sz="2400" dirty="0">
                  <a:latin typeface="+mn-lt"/>
                </a:endParaRPr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66" y="665408"/>
                <a:ext cx="8739730" cy="2646045"/>
              </a:xfrm>
              <a:prstGeom prst="rect">
                <a:avLst/>
              </a:prstGeom>
              <a:blipFill rotWithShape="1">
                <a:blip r:embed="rId1"/>
                <a:stretch>
                  <a:fillRect l="-3" t="-21" r="5" b="21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3261959"/>
            <a:ext cx="2520280" cy="3584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Classification des systèmes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19722" y="677562"/>
            <a:ext cx="8624278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  <a:latin typeface="+mn-lt"/>
              </a:rPr>
              <a:t>Causalité 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La réponse du système ne peut pas se produire avant l'excitation qui l'engendre </a:t>
            </a:r>
            <a:endParaRPr lang="fr-FR" sz="2000" dirty="0"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872" y="3236266"/>
            <a:ext cx="2478881" cy="3017766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323528" y="2328553"/>
                <a:ext cx="88204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b="0" dirty="0"/>
                  <a:t>Si</a:t>
                </a:r>
                <a:r>
                  <a:rPr lang="fr-FR" sz="24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pour 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400" dirty="0"/>
                  <a:t>   alors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fr-FR" sz="2400" dirty="0"/>
                  <a:t> </a:t>
                </a:r>
                <a:r>
                  <a:rPr lang="fr-FR" sz="2400" dirty="0">
                    <a:solidFill>
                      <a:srgbClr val="FF0000"/>
                    </a:solidFill>
                  </a:rPr>
                  <a:t>pour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:endParaRPr lang="fr-FR" sz="2200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328553"/>
                <a:ext cx="882047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4" t="-2" r="7" b="6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Classification des systèmes</a:t>
            </a:r>
            <a:endParaRPr lang="fr-FR" sz="32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519722" y="677562"/>
                <a:ext cx="8624278" cy="2846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400" dirty="0">
                  <a:solidFill>
                    <a:srgbClr val="343C88"/>
                  </a:solidFill>
                  <a:latin typeface="+mn-lt"/>
                </a:endParaRPr>
              </a:p>
              <a:p>
                <a:pPr marL="457200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r>
                  <a:rPr lang="fr-FR" sz="2400" dirty="0">
                    <a:solidFill>
                      <a:srgbClr val="343C88"/>
                    </a:solidFill>
                    <a:latin typeface="+mn-lt"/>
                  </a:rPr>
                  <a:t>Invariance temporelle</a:t>
                </a:r>
                <a:endParaRPr lang="fr-FR" sz="2400" dirty="0">
                  <a:solidFill>
                    <a:srgbClr val="343C88"/>
                  </a:solidFill>
                  <a:latin typeface="+mn-lt"/>
                </a:endParaRPr>
              </a:p>
              <a:p>
                <a:pPr algn="just">
                  <a:lnSpc>
                    <a:spcPct val="15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2000" dirty="0">
                    <a:latin typeface="+mn-lt"/>
                  </a:rPr>
                  <a:t>Un décalage temporel en entrée induit le même décalage en sortie. </a:t>
                </a:r>
                <a:endParaRPr lang="fr-FR" sz="2000" dirty="0"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2000" dirty="0">
                    <a:latin typeface="+mn-lt"/>
                  </a:rPr>
                  <a:t>La réponse du système est </a:t>
                </a:r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invariante par translation </a:t>
                </a:r>
                <a:r>
                  <a:rPr lang="fr-FR" sz="2000" dirty="0">
                    <a:latin typeface="+mn-lt"/>
                  </a:rPr>
                  <a:t>dans le temps. </a:t>
                </a:r>
                <a:endParaRPr lang="fr-FR" sz="2000" dirty="0"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1900" dirty="0"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1900" dirty="0"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2000" b="0" dirty="0"/>
                  <a:t>Si</a:t>
                </a:r>
                <a:r>
                  <a:rPr lang="fr-FR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dirty="0"/>
                  <a:t>    </a:t>
                </a:r>
                <a:r>
                  <a:rPr lang="fr-FR" sz="2000" dirty="0"/>
                  <a:t>alors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fr-FR" sz="2000" dirty="0"/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1900" dirty="0">
                  <a:latin typeface="+mn-lt"/>
                </a:endParaRPr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22" y="677562"/>
                <a:ext cx="8624278" cy="2846933"/>
              </a:xfrm>
              <a:prstGeom prst="rect">
                <a:avLst/>
              </a:prstGeom>
              <a:blipFill rotWithShape="1">
                <a:blip r:embed="rId1"/>
                <a:stretch>
                  <a:fillRect l="-3" t="-1" b="9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240819"/>
            <a:ext cx="3384376" cy="3572397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Classification des systèmes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19722" y="677562"/>
            <a:ext cx="81670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361950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  <a:latin typeface="+mn-lt"/>
              </a:rPr>
              <a:t>Stabilité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Un système est dit stable si en réponse à </a:t>
            </a:r>
            <a:r>
              <a:rPr lang="fr-FR" sz="2000" dirty="0">
                <a:solidFill>
                  <a:srgbClr val="FF0000"/>
                </a:solidFill>
                <a:latin typeface="+mn-lt"/>
              </a:rPr>
              <a:t>une entrée bornée</a:t>
            </a:r>
            <a:r>
              <a:rPr lang="fr-FR" sz="2000" dirty="0">
                <a:latin typeface="+mn-lt"/>
              </a:rPr>
              <a:t>, </a:t>
            </a:r>
            <a:r>
              <a:rPr lang="fr-FR" sz="2000" dirty="0">
                <a:solidFill>
                  <a:srgbClr val="FF0000"/>
                </a:solidFill>
                <a:latin typeface="+mn-lt"/>
              </a:rPr>
              <a:t>sa sortie est bornée.</a:t>
            </a:r>
            <a:endParaRPr lang="fr-FR" sz="2000" dirty="0">
              <a:solidFill>
                <a:srgbClr val="FF0000"/>
              </a:solidFill>
              <a:latin typeface="+mn-lt"/>
            </a:endParaRPr>
          </a:p>
          <a:p>
            <a:pPr algn="just">
              <a:buSzPct val="101000"/>
            </a:pPr>
            <a:r>
              <a:rPr lang="fr-FR" sz="2000" dirty="0">
                <a:latin typeface="+mn-lt"/>
              </a:rPr>
              <a:t>Système qui, perturbé, revient à son état initial après disparition de la perturbation   </a:t>
            </a:r>
            <a:endParaRPr lang="fr-FR" sz="20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125" y="3601832"/>
            <a:ext cx="3333750" cy="312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/>
              <p:cNvSpPr txBox="1"/>
              <p:nvPr/>
            </p:nvSpPr>
            <p:spPr>
              <a:xfrm>
                <a:off x="1475656" y="3023562"/>
                <a:ext cx="7211144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f>
                        <m:fPr>
                          <m:type m:val="lin"/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⇒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f>
                            <m:fPr>
                              <m:type m:val="li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fr-FR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d>
                                <m:d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023562"/>
                <a:ext cx="7211144" cy="490840"/>
              </a:xfrm>
              <a:prstGeom prst="rect">
                <a:avLst/>
              </a:prstGeom>
              <a:blipFill rotWithShape="1">
                <a:blip r:embed="rId2"/>
                <a:stretch>
                  <a:fillRect l="-8" t="-67" b="64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Exemples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6026" y="1157851"/>
            <a:ext cx="857501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600" dirty="0">
                <a:latin typeface="+mn-lt"/>
              </a:rPr>
              <a:t> </a:t>
            </a:r>
            <a:r>
              <a:rPr lang="fr-FR" sz="2200" dirty="0">
                <a:solidFill>
                  <a:srgbClr val="002060"/>
                </a:solidFill>
                <a:latin typeface="+mn-lt"/>
              </a:rPr>
              <a:t>Tachymètre</a:t>
            </a:r>
            <a:endParaRPr lang="fr-FR" sz="2200" dirty="0">
              <a:solidFill>
                <a:srgbClr val="002060"/>
              </a:solidFill>
              <a:latin typeface="+mn-lt"/>
            </a:endParaRPr>
          </a:p>
          <a:p>
            <a:pPr marL="342900" indent="-342900">
              <a:buSzPct val="80000"/>
              <a:buFont typeface="Wingdings" panose="05000000000000000000" pitchFamily="2" charset="2"/>
              <a:buChar char="v"/>
            </a:pPr>
            <a:r>
              <a:rPr lang="fr-FR" sz="2000" dirty="0">
                <a:latin typeface="+mn-lt"/>
              </a:rPr>
              <a:t>Entrée : Vitesse d'un véhicule v(t) </a:t>
            </a:r>
            <a:endParaRPr lang="fr-FR" sz="2000" dirty="0">
              <a:latin typeface="+mn-lt"/>
            </a:endParaRPr>
          </a:p>
          <a:p>
            <a:pPr marL="342900" indent="-342900">
              <a:buSzPct val="80000"/>
              <a:buFont typeface="Wingdings" panose="05000000000000000000" pitchFamily="2" charset="2"/>
              <a:buChar char="v"/>
            </a:pPr>
            <a:r>
              <a:rPr lang="fr-FR" sz="2000" dirty="0">
                <a:latin typeface="+mn-lt"/>
              </a:rPr>
              <a:t>Sortie : Position angulaire de l'aiguille  θ (t) </a:t>
            </a:r>
            <a:endParaRPr lang="fr-FR" sz="2000" dirty="0">
              <a:latin typeface="+mn-lt"/>
            </a:endParaRPr>
          </a:p>
          <a:p>
            <a:pPr marL="342900" indent="-342900">
              <a:buSzPct val="80000"/>
              <a:buFont typeface="Wingdings" panose="05000000000000000000" pitchFamily="2" charset="2"/>
              <a:buChar char="v"/>
            </a:pPr>
            <a:r>
              <a:rPr lang="fr-FR" sz="2000" dirty="0">
                <a:latin typeface="+mn-lt"/>
              </a:rPr>
              <a:t>Propriétés : linéaire, causal, invariant</a:t>
            </a:r>
            <a:endParaRPr lang="fr-FR" sz="2000" dirty="0">
              <a:latin typeface="+mn-lt"/>
            </a:endParaRPr>
          </a:p>
          <a:p>
            <a:endParaRPr lang="fr-FR" sz="2200" dirty="0">
              <a:latin typeface="+mn-lt"/>
            </a:endParaRPr>
          </a:p>
          <a:p>
            <a:r>
              <a:rPr lang="fr-FR" sz="22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</a:t>
            </a:r>
            <a:r>
              <a:rPr lang="fr-FR" sz="2200" dirty="0">
                <a:solidFill>
                  <a:srgbClr val="002060"/>
                </a:solidFill>
                <a:latin typeface="+mn-lt"/>
              </a:rPr>
              <a:t>Exemple de système</a:t>
            </a:r>
            <a:endParaRPr lang="fr-FR" sz="2200" dirty="0">
              <a:solidFill>
                <a:srgbClr val="002060"/>
              </a:solidFill>
              <a:latin typeface="+mn-lt"/>
            </a:endParaRPr>
          </a:p>
          <a:p>
            <a:pPr marL="342900" indent="-342900">
              <a:buSzPct val="80000"/>
              <a:buFont typeface="Wingdings" panose="05000000000000000000" pitchFamily="2" charset="2"/>
              <a:buChar char="v"/>
            </a:pPr>
            <a:r>
              <a:rPr lang="fr-FR" sz="2000" dirty="0">
                <a:latin typeface="+mn-lt"/>
              </a:rPr>
              <a:t>non invariant :  y(t) = </a:t>
            </a:r>
            <a:r>
              <a:rPr lang="fr-FR" sz="2000" dirty="0" err="1">
                <a:latin typeface="+mn-lt"/>
              </a:rPr>
              <a:t>t.x</a:t>
            </a:r>
            <a:r>
              <a:rPr lang="fr-FR" sz="2000" dirty="0">
                <a:latin typeface="+mn-lt"/>
              </a:rPr>
              <a:t>(t); parcmètre (le tarif dépend de l'heure)</a:t>
            </a:r>
            <a:endParaRPr lang="fr-FR" sz="2000" dirty="0">
              <a:latin typeface="+mn-lt"/>
            </a:endParaRPr>
          </a:p>
          <a:p>
            <a:endParaRPr lang="fr-FR" sz="2200" dirty="0">
              <a:latin typeface="+mn-lt"/>
            </a:endParaRPr>
          </a:p>
          <a:p>
            <a:endParaRPr lang="fr-FR" sz="2200" dirty="0">
              <a:latin typeface="+mn-lt"/>
            </a:endParaRPr>
          </a:p>
          <a:p>
            <a:endParaRPr lang="fr-FR" sz="240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fr-FR" sz="2400" dirty="0">
                <a:solidFill>
                  <a:srgbClr val="FF0000"/>
                </a:solidFill>
                <a:latin typeface="+mn-lt"/>
              </a:rPr>
              <a:t>Dans la suite, on étudiera les systèmes mono-variables continus linéaires à temps invariant (systèmes LTI) </a:t>
            </a:r>
            <a:endParaRPr lang="fr-FR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</a:rPr>
              <a:t>Linéarité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922517"/>
            <a:ext cx="3648075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" y="2996952"/>
            <a:ext cx="518160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</a:rPr>
              <a:t>Linéarité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922517"/>
            <a:ext cx="3648075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" y="2996952"/>
            <a:ext cx="5181600" cy="18669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667" y="1922517"/>
            <a:ext cx="3657600" cy="6667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5014362"/>
            <a:ext cx="4933950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</a:rPr>
              <a:t>Linéarité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922517"/>
            <a:ext cx="3648075" cy="609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67" y="1922517"/>
            <a:ext cx="3657600" cy="6667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3076575"/>
            <a:ext cx="7019925" cy="7048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515" y="4075199"/>
            <a:ext cx="543877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43C88"/>
                </a:solidFill>
              </a:rPr>
              <a:t>Invariance temporelle</a:t>
            </a: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66" y="1685290"/>
            <a:ext cx="8677275" cy="6477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654" y="2671520"/>
            <a:ext cx="6296025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0000"/>
                </a:solidFill>
              </a:rPr>
              <a:t>Exemple de système variant temporellement</a:t>
            </a:r>
            <a:endParaRPr lang="fr-FR" sz="240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47" y="1677811"/>
            <a:ext cx="8039100" cy="8667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59" y="3513984"/>
            <a:ext cx="6848475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0" y="17336"/>
            <a:ext cx="8947806" cy="89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Les systèmes Linéaires Invariants Temporellement SLIT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665408"/>
            <a:ext cx="86242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400" dirty="0">
              <a:solidFill>
                <a:srgbClr val="343C88"/>
              </a:solidFill>
              <a:latin typeface="+mn-lt"/>
            </a:endParaRPr>
          </a:p>
          <a:p>
            <a:pPr marL="425450" lvl="1" indent="-342900" algn="just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0000"/>
                </a:solidFill>
              </a:rPr>
              <a:t>Exemple de système variant temporellement</a:t>
            </a:r>
            <a:endParaRPr lang="fr-FR" sz="2400" dirty="0">
              <a:solidFill>
                <a:srgbClr val="FF0000"/>
              </a:solidFill>
              <a:latin typeface="+mn-lt"/>
            </a:endParaRPr>
          </a:p>
          <a:p>
            <a:pPr algn="just"/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fr-FR" sz="2600" dirty="0">
                <a:latin typeface="+mn-lt"/>
              </a:rPr>
              <a:t>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47" y="1677811"/>
            <a:ext cx="8039100" cy="8667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965" y="2851287"/>
            <a:ext cx="5857875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Caractérisation d’un système LTI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7504" y="1124744"/>
            <a:ext cx="8840302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2450" indent="-457200" algn="just">
              <a:buClr>
                <a:schemeClr val="accent6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fr-FR" sz="2400" u="sng" dirty="0">
                <a:solidFill>
                  <a:srgbClr val="343C88"/>
                </a:solidFill>
                <a:latin typeface="+mn-lt"/>
              </a:rPr>
              <a:t>Relation entrée/sortie </a:t>
            </a:r>
            <a:endParaRPr lang="fr-FR" sz="2400" u="sng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100" dirty="0"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La plus courante: </a:t>
            </a:r>
            <a:r>
              <a:rPr lang="fr-FR" sz="2000" b="1" dirty="0">
                <a:latin typeface="+mn-lt"/>
              </a:rPr>
              <a:t>équation différentielle linéaire </a:t>
            </a:r>
            <a:r>
              <a:rPr lang="fr-FR" sz="2000" dirty="0">
                <a:latin typeface="+mn-lt"/>
              </a:rPr>
              <a:t>à coefficients constants</a:t>
            </a:r>
            <a:endParaRPr lang="fr-FR" sz="2000" dirty="0">
              <a:latin typeface="+mn-lt"/>
            </a:endParaRPr>
          </a:p>
          <a:p>
            <a:pPr marL="361950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600" dirty="0">
              <a:latin typeface="+mn-lt"/>
            </a:endParaRPr>
          </a:p>
          <a:p>
            <a:pPr marL="8191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1900" dirty="0">
                <a:latin typeface="+mn-lt"/>
              </a:rPr>
              <a:t>              Avec </a:t>
            </a: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marL="8191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r>
              <a:rPr lang="fr-FR" sz="2000" dirty="0">
                <a:latin typeface="+mn-lt"/>
              </a:rPr>
              <a:t>Caractérisation complète du système </a:t>
            </a:r>
            <a:r>
              <a:rPr lang="fr-FR" sz="2000" dirty="0">
                <a:solidFill>
                  <a:schemeClr val="accent2"/>
                </a:solidFill>
                <a:latin typeface="+mn-lt"/>
              </a:rPr>
              <a:t>par la connaissance des coefficients (a</a:t>
            </a:r>
            <a:r>
              <a:rPr lang="fr-FR" sz="2000" baseline="-25000" dirty="0">
                <a:solidFill>
                  <a:schemeClr val="accent2"/>
                </a:solidFill>
                <a:latin typeface="+mn-lt"/>
              </a:rPr>
              <a:t>i</a:t>
            </a:r>
            <a:r>
              <a:rPr lang="fr-FR" sz="2000" dirty="0">
                <a:solidFill>
                  <a:schemeClr val="accent2"/>
                </a:solidFill>
                <a:latin typeface="+mn-lt"/>
              </a:rPr>
              <a:t>) et (b</a:t>
            </a:r>
            <a:r>
              <a:rPr lang="fr-FR" sz="2000" baseline="-25000" dirty="0">
                <a:solidFill>
                  <a:schemeClr val="accent2"/>
                </a:solidFill>
                <a:latin typeface="+mn-lt"/>
              </a:rPr>
              <a:t>i</a:t>
            </a:r>
            <a:r>
              <a:rPr lang="fr-FR" sz="2000" dirty="0">
                <a:solidFill>
                  <a:schemeClr val="accent2"/>
                </a:solidFill>
                <a:latin typeface="+mn-lt"/>
              </a:rPr>
              <a:t>)</a:t>
            </a:r>
            <a:endParaRPr lang="fr-FR" sz="2000" dirty="0">
              <a:solidFill>
                <a:schemeClr val="accent2"/>
              </a:solidFill>
              <a:latin typeface="+mn-lt"/>
            </a:endParaRPr>
          </a:p>
          <a:p>
            <a:pPr marL="8191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r>
              <a:rPr lang="fr-FR" sz="2000" dirty="0">
                <a:latin typeface="+mn-lt"/>
              </a:rPr>
              <a:t>Sortie </a:t>
            </a:r>
            <a:r>
              <a:rPr lang="fr-FR" sz="2000" i="1" dirty="0">
                <a:latin typeface="+mn-lt"/>
              </a:rPr>
              <a:t>y(t) </a:t>
            </a:r>
            <a:r>
              <a:rPr lang="fr-FR" sz="2000" dirty="0">
                <a:latin typeface="+mn-lt"/>
              </a:rPr>
              <a:t>calculable par la connaissance de </a:t>
            </a:r>
            <a:r>
              <a:rPr lang="fr-FR" sz="2000" i="1" dirty="0">
                <a:latin typeface="+mn-lt"/>
              </a:rPr>
              <a:t>x(t) </a:t>
            </a:r>
            <a:endParaRPr lang="fr-FR" sz="2000" i="1" dirty="0">
              <a:latin typeface="+mn-lt"/>
            </a:endParaRPr>
          </a:p>
          <a:p>
            <a:pPr marL="8191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95250"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marL="819150" lvl="1" indent="-93980" algn="just">
              <a:buSzPct val="80000"/>
              <a:buFont typeface="Wingdings" panose="05000000000000000000" pitchFamily="2" charset="2"/>
              <a:buChar char="§"/>
            </a:pPr>
            <a:endParaRPr lang="fr-FR" sz="2100" dirty="0">
              <a:latin typeface="+mn-lt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294" y="2393276"/>
            <a:ext cx="7579468" cy="4762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75" y="3064510"/>
            <a:ext cx="3816350" cy="567690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Caractérisation d’un système LTI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7504" y="1124744"/>
            <a:ext cx="8840302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2450" indent="-457200" algn="just">
              <a:buClr>
                <a:schemeClr val="accent6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fr-FR" sz="2400" u="sng" dirty="0">
                <a:solidFill>
                  <a:srgbClr val="343C88"/>
                </a:solidFill>
                <a:latin typeface="+mn-lt"/>
              </a:rPr>
              <a:t>Relation entrée/sortie </a:t>
            </a:r>
            <a:endParaRPr lang="fr-FR" sz="2400" u="sng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100" dirty="0"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La plus courante: </a:t>
            </a:r>
            <a:r>
              <a:rPr lang="fr-FR" sz="2000" b="1" dirty="0">
                <a:latin typeface="+mn-lt"/>
              </a:rPr>
              <a:t>équation différentielle linéaire </a:t>
            </a:r>
            <a:r>
              <a:rPr lang="fr-FR" sz="2000" dirty="0">
                <a:latin typeface="+mn-lt"/>
              </a:rPr>
              <a:t>à coefficients constants</a:t>
            </a:r>
            <a:endParaRPr lang="fr-FR" sz="2000" dirty="0">
              <a:latin typeface="+mn-lt"/>
            </a:endParaRPr>
          </a:p>
          <a:p>
            <a:pPr marL="361950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endParaRPr lang="fr-FR" sz="2600" dirty="0">
              <a:latin typeface="+mn-lt"/>
            </a:endParaRPr>
          </a:p>
          <a:p>
            <a:pPr marL="8191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1900" dirty="0">
                <a:latin typeface="+mn-lt"/>
              </a:rPr>
              <a:t>              Avec </a:t>
            </a: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marL="84455"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1900" b="1" u="sng" dirty="0">
                <a:latin typeface="+mn-lt"/>
              </a:rPr>
              <a:t>Exemple:</a:t>
            </a:r>
            <a:endParaRPr lang="fr-FR" sz="1900" b="1" u="sng" dirty="0">
              <a:latin typeface="+mn-lt"/>
            </a:endParaRPr>
          </a:p>
          <a:p>
            <a:pPr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latin typeface="+mn-lt"/>
            </a:endParaRPr>
          </a:p>
          <a:p>
            <a:pPr marL="95250"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marL="819150" lvl="1" indent="-93980" algn="just">
              <a:buSzPct val="80000"/>
              <a:buFont typeface="Wingdings" panose="05000000000000000000" pitchFamily="2" charset="2"/>
              <a:buChar char="§"/>
            </a:pPr>
            <a:endParaRPr lang="fr-FR" sz="2100" dirty="0">
              <a:latin typeface="+mn-lt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2393276"/>
            <a:ext cx="7594202" cy="4771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064250"/>
            <a:ext cx="3816424" cy="699678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5" y="4531397"/>
            <a:ext cx="3519088" cy="2114550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>
          <a:xfrm>
            <a:off x="1763688" y="3999965"/>
            <a:ext cx="5976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569" y="4106786"/>
            <a:ext cx="38576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Caractérisation d’un système LTI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59861" y="1111405"/>
            <a:ext cx="862427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100000"/>
              <a:buFont typeface="+mj-lt"/>
              <a:buAutoNum type="arabicPeriod" startAt="2"/>
            </a:pPr>
            <a:r>
              <a:rPr lang="fr-FR" sz="2400" u="sng" dirty="0">
                <a:solidFill>
                  <a:srgbClr val="343C88"/>
                </a:solidFill>
                <a:latin typeface="+mn-lt"/>
              </a:rPr>
              <a:t>Réponse impulsionnelle</a:t>
            </a:r>
            <a:endParaRPr lang="fr-FR" sz="2400" u="sng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La </a:t>
            </a:r>
            <a:r>
              <a:rPr lang="fr-FR" sz="2000" b="1" dirty="0">
                <a:latin typeface="+mn-lt"/>
              </a:rPr>
              <a:t>réponse impulsionnelle </a:t>
            </a:r>
            <a:r>
              <a:rPr lang="fr-FR" sz="2000" i="1" dirty="0">
                <a:latin typeface="+mn-lt"/>
              </a:rPr>
              <a:t>h(t) </a:t>
            </a:r>
            <a:r>
              <a:rPr lang="fr-FR" sz="2000" dirty="0">
                <a:latin typeface="+mn-lt"/>
              </a:rPr>
              <a:t>d'un système </a:t>
            </a:r>
            <a:r>
              <a:rPr lang="fr-FR" sz="2800" i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</a:t>
            </a:r>
            <a:r>
              <a:rPr lang="fr-FR" sz="2000" dirty="0">
                <a:latin typeface="+mn-lt"/>
              </a:rPr>
              <a:t> est </a:t>
            </a:r>
            <a:r>
              <a:rPr lang="fr-FR" sz="2000" b="1" dirty="0">
                <a:latin typeface="+mn-lt"/>
              </a:rPr>
              <a:t>sa réponse à une entrée </a:t>
            </a:r>
            <a:r>
              <a:rPr lang="fr-FR" sz="2000" dirty="0">
                <a:latin typeface="+mn-lt"/>
              </a:rPr>
              <a:t>sous forme d‘une </a:t>
            </a:r>
            <a:r>
              <a:rPr lang="fr-FR" sz="2000" b="1" dirty="0">
                <a:solidFill>
                  <a:srgbClr val="FF0000"/>
                </a:solidFill>
                <a:latin typeface="+mn-lt"/>
              </a:rPr>
              <a:t>impulsion de Dirac  </a:t>
            </a:r>
            <a:endParaRPr lang="fr-FR" sz="2000" b="1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200" dirty="0">
                <a:solidFill>
                  <a:srgbClr val="FF0000"/>
                </a:solidFill>
                <a:latin typeface="+mn-lt"/>
              </a:rPr>
              <a:t> </a:t>
            </a: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2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566" y="3573016"/>
            <a:ext cx="7635665" cy="1467991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Caractérisation d’un système LTI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59861" y="1111405"/>
            <a:ext cx="862427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6">
                  <a:lumMod val="75000"/>
                </a:schemeClr>
              </a:buClr>
              <a:buSzPct val="100000"/>
              <a:buFont typeface="+mj-lt"/>
              <a:buAutoNum type="arabicPeriod" startAt="2"/>
            </a:pPr>
            <a:r>
              <a:rPr lang="fr-FR" sz="2400" u="sng" dirty="0">
                <a:solidFill>
                  <a:srgbClr val="343C88"/>
                </a:solidFill>
                <a:latin typeface="+mn-lt"/>
              </a:rPr>
              <a:t>Réponse impulsionnelle</a:t>
            </a:r>
            <a:endParaRPr lang="fr-FR" sz="2400" u="sng" dirty="0">
              <a:solidFill>
                <a:srgbClr val="343C88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latin typeface="+mn-lt"/>
              </a:rPr>
              <a:t>La </a:t>
            </a:r>
            <a:r>
              <a:rPr lang="fr-FR" sz="2000" b="1" dirty="0">
                <a:latin typeface="+mn-lt"/>
              </a:rPr>
              <a:t>réponse impulsionnelle </a:t>
            </a:r>
            <a:r>
              <a:rPr lang="fr-FR" sz="2000" i="1" dirty="0">
                <a:latin typeface="+mn-lt"/>
              </a:rPr>
              <a:t>h(t) </a:t>
            </a:r>
            <a:r>
              <a:rPr lang="fr-FR" sz="2000" dirty="0">
                <a:latin typeface="+mn-lt"/>
              </a:rPr>
              <a:t>d'un système </a:t>
            </a:r>
            <a:r>
              <a:rPr lang="fr-FR" sz="2800" i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</a:t>
            </a:r>
            <a:r>
              <a:rPr lang="fr-FR" sz="2000" dirty="0">
                <a:latin typeface="+mn-lt"/>
              </a:rPr>
              <a:t> est </a:t>
            </a:r>
            <a:r>
              <a:rPr lang="fr-FR" sz="2000" b="1" dirty="0">
                <a:latin typeface="+mn-lt"/>
              </a:rPr>
              <a:t>sa réponse à une entrée </a:t>
            </a:r>
            <a:r>
              <a:rPr lang="fr-FR" sz="2000" dirty="0">
                <a:latin typeface="+mn-lt"/>
              </a:rPr>
              <a:t>sous forme d‘une </a:t>
            </a:r>
            <a:r>
              <a:rPr lang="fr-FR" sz="2000" b="1" dirty="0">
                <a:solidFill>
                  <a:srgbClr val="FF0000"/>
                </a:solidFill>
                <a:latin typeface="+mn-lt"/>
              </a:rPr>
              <a:t>impulsion de Dirac  </a:t>
            </a:r>
            <a:endParaRPr lang="fr-FR" sz="2000" b="1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200" dirty="0">
                <a:solidFill>
                  <a:srgbClr val="FF0000"/>
                </a:solidFill>
                <a:latin typeface="+mn-lt"/>
              </a:rPr>
              <a:t> </a:t>
            </a: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2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239827" y="3226480"/>
            <a:ext cx="862427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b="1" dirty="0">
              <a:latin typeface="+mn-lt"/>
            </a:endParaRPr>
          </a:p>
          <a:p>
            <a:pPr marL="84455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200" dirty="0">
                <a:solidFill>
                  <a:schemeClr val="accent2"/>
                </a:solidFill>
                <a:latin typeface="+mn-lt"/>
              </a:rPr>
              <a:t>Avantages de la réponse impulsionnelle </a:t>
            </a:r>
            <a:endParaRPr lang="fr-FR" sz="2200" dirty="0">
              <a:solidFill>
                <a:schemeClr val="accent2"/>
              </a:solidFill>
              <a:latin typeface="+mn-lt"/>
            </a:endParaRPr>
          </a:p>
          <a:p>
            <a:pPr marL="361950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chemeClr val="accent2"/>
              </a:solidFill>
              <a:latin typeface="+mn-lt"/>
            </a:endParaRPr>
          </a:p>
          <a:p>
            <a:pPr marL="628650" lvl="1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800100" algn="l"/>
              </a:tabLst>
            </a:pPr>
            <a:r>
              <a:rPr lang="fr-FR" sz="2200" dirty="0">
                <a:latin typeface="+mn-lt"/>
              </a:rPr>
              <a:t> </a:t>
            </a:r>
            <a:r>
              <a:rPr lang="fr-FR" sz="2000" dirty="0">
                <a:solidFill>
                  <a:srgbClr val="FF3300"/>
                </a:solidFill>
                <a:latin typeface="+mn-lt"/>
              </a:rPr>
              <a:t>caractérisation complète </a:t>
            </a:r>
            <a:r>
              <a:rPr lang="fr-FR" sz="2000" dirty="0">
                <a:latin typeface="+mn-lt"/>
              </a:rPr>
              <a:t>du système</a:t>
            </a:r>
            <a:endParaRPr lang="fr-FR" sz="2000" dirty="0">
              <a:latin typeface="+mn-lt"/>
            </a:endParaRPr>
          </a:p>
          <a:p>
            <a:pPr marL="628650" lvl="1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800100" algn="l"/>
              </a:tabLst>
            </a:pPr>
            <a:endParaRPr lang="fr-FR" sz="2000" dirty="0">
              <a:latin typeface="+mn-lt"/>
            </a:endParaRPr>
          </a:p>
          <a:p>
            <a:pPr marL="628650" lvl="1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800100" algn="l"/>
              </a:tabLst>
            </a:pPr>
            <a:r>
              <a:rPr lang="fr-FR" sz="2000" dirty="0">
                <a:latin typeface="+mn-lt"/>
              </a:rPr>
              <a:t>  permet de calculer la sortie du système LTI pour d’autres signaux  </a:t>
            </a:r>
            <a:endParaRPr lang="fr-FR" sz="2000" dirty="0">
              <a:latin typeface="+mn-lt"/>
            </a:endParaRPr>
          </a:p>
          <a:p>
            <a:pPr marL="628650" lvl="1" algn="just">
              <a:buClr>
                <a:schemeClr val="accent6">
                  <a:lumMod val="75000"/>
                </a:schemeClr>
              </a:buClr>
              <a:buSzPct val="80000"/>
              <a:tabLst>
                <a:tab pos="800100" algn="l"/>
              </a:tabLst>
            </a:pPr>
            <a:r>
              <a:rPr lang="fr-FR" sz="2000" dirty="0">
                <a:latin typeface="+mn-lt"/>
              </a:rPr>
              <a:t>    d’entrée </a:t>
            </a:r>
            <a:endParaRPr lang="fr-FR" sz="2000" dirty="0">
              <a:latin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Caractérisation d’un système LTI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23528" y="1412776"/>
            <a:ext cx="8624278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>
              <a:solidFill>
                <a:srgbClr val="343C88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300" dirty="0">
                <a:solidFill>
                  <a:srgbClr val="343C88"/>
                </a:solidFill>
              </a:rPr>
              <a:t>Comment calculer la sortie du système LTI pour un signal d’entrée quelconque à partir de la réponse impulsionnelle ? </a:t>
            </a:r>
            <a:endParaRPr lang="fr-FR" sz="2300" dirty="0">
              <a:solidFill>
                <a:srgbClr val="343C88"/>
              </a:solidFill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1900" dirty="0"/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1900" dirty="0"/>
              <a:t>		       </a:t>
            </a:r>
            <a:r>
              <a:rPr lang="fr-FR" sz="2200" dirty="0">
                <a:solidFill>
                  <a:srgbClr val="FF0000"/>
                </a:solidFill>
              </a:rPr>
              <a:t>⇒</a:t>
            </a:r>
            <a:r>
              <a:rPr lang="fr-FR" sz="2200" dirty="0"/>
              <a:t> </a:t>
            </a:r>
            <a:r>
              <a:rPr lang="fr-FR" sz="2400" dirty="0">
                <a:solidFill>
                  <a:srgbClr val="FF0000"/>
                </a:solidFill>
              </a:rPr>
              <a:t>notion de convolution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 </a:t>
            </a:r>
            <a:endParaRPr lang="fr-FR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Produit de convolution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/>
              <p:cNvSpPr txBox="1"/>
              <p:nvPr/>
            </p:nvSpPr>
            <p:spPr>
              <a:xfrm>
                <a:off x="323529" y="1036111"/>
                <a:ext cx="8363271" cy="3476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>
                    <a:cs typeface="Arial" panose="020B0604020202020204" pitchFamily="34" charset="0"/>
                  </a:rPr>
                  <a:t>On appelle   </a:t>
                </a:r>
                <a:r>
                  <a:rPr lang="fr-FR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Produit de convolution  </a:t>
                </a:r>
                <a:r>
                  <a:rPr lang="fr-FR" sz="2000" dirty="0">
                    <a:cs typeface="Arial" panose="020B0604020202020204" pitchFamily="34" charset="0"/>
                  </a:rPr>
                  <a:t>de deux signaux </a:t>
                </a:r>
                <a14:m>
                  <m:oMath xmlns:m="http://schemas.openxmlformats.org/officeDocument/2006/math">
                    <m:r>
                      <a:rPr lang="fr-F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2000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cs typeface="Arial" panose="020B0604020202020204" pitchFamily="34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fr-F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fr-F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fr-FR" sz="2000" dirty="0">
                    <a:cs typeface="Arial" panose="020B0604020202020204" pitchFamily="34" charset="0"/>
                  </a:rPr>
                  <a:t>, et on note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fr-FR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cs typeface="Arial" panose="020B0604020202020204" pitchFamily="34" charset="0"/>
                  </a:rPr>
                  <a:t>l’expression</a:t>
                </a:r>
                <a:r>
                  <a:rPr lang="fr-FR" sz="2400" dirty="0">
                    <a:latin typeface="+mn-lt"/>
                  </a:rPr>
                  <a:t>:</a:t>
                </a:r>
                <a:endParaRPr lang="fr-FR" sz="2400" dirty="0">
                  <a:latin typeface="+mn-lt"/>
                </a:endParaRPr>
              </a:p>
              <a:p>
                <a:endParaRPr lang="fr-FR" sz="2400" dirty="0">
                  <a:latin typeface="+mn-lt"/>
                </a:endParaRPr>
              </a:p>
              <a:p>
                <a:endParaRPr lang="fr-FR" sz="2400" dirty="0">
                  <a:latin typeface="+mn-lt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fr-FR" sz="2400" dirty="0">
                  <a:latin typeface="+mn-lt"/>
                </a:endParaRPr>
              </a:p>
              <a:p>
                <a:endParaRPr lang="fr-FR" sz="2400" dirty="0">
                  <a:latin typeface="+mn-lt"/>
                </a:endParaRPr>
              </a:p>
              <a:p>
                <a:endParaRPr lang="fr-FR" sz="24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>
                    <a:latin typeface="+mn-lt"/>
                  </a:rPr>
                  <a:t>Cas de </a:t>
                </a:r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signaux causaux</a:t>
                </a:r>
                <a:r>
                  <a:rPr lang="fr-FR" sz="2000" dirty="0">
                    <a:latin typeface="+mn-lt"/>
                  </a:rPr>
                  <a:t>: 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pour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fr-FR" sz="2400" dirty="0">
                  <a:latin typeface="+mn-lt"/>
                </a:endParaRPr>
              </a:p>
            </p:txBody>
          </p:sp>
        </mc:Choice>
        <mc:Fallback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1036111"/>
                <a:ext cx="8363271" cy="3476914"/>
              </a:xfrm>
              <a:prstGeom prst="rect">
                <a:avLst/>
              </a:prstGeom>
              <a:blipFill rotWithShape="1">
                <a:blip r:embed="rId1"/>
                <a:stretch>
                  <a:fillRect l="-4" t="-12" b="2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22</a:t>
            </a:r>
            <a:endParaRPr lang="fr-FR" dirty="0"/>
          </a:p>
          <a:p>
            <a:pPr>
              <a:defRPr/>
            </a:pP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1459033" y="5157192"/>
                <a:ext cx="6192688" cy="911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fr-FR" sz="1800" dirty="0">
                  <a:latin typeface="+mn-lt"/>
                </a:endParaRPr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33" y="5157192"/>
                <a:ext cx="6192688" cy="911019"/>
              </a:xfrm>
              <a:prstGeom prst="rect">
                <a:avLst/>
              </a:prstGeom>
              <a:blipFill rotWithShape="1">
                <a:blip r:embed="rId2"/>
                <a:stretch>
                  <a:fillRect l="-7" t="-39" r="10" b="17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43" y="22972"/>
            <a:ext cx="8229600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Produit de convolution : interprétation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323529" y="1484784"/>
                <a:ext cx="8568951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>
                    <a:latin typeface="+mn-lt"/>
                  </a:rPr>
                  <a:t>La </a:t>
                </a:r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convolution </a:t>
                </a:r>
                <a:r>
                  <a:rPr lang="fr-FR" sz="2000" dirty="0">
                    <a:latin typeface="+mn-lt"/>
                  </a:rPr>
                  <a:t>de </a:t>
                </a:r>
                <a14:m>
                  <m:oMath xmlns:m="http://schemas.openxmlformats.org/officeDocument/2006/math">
                    <m:r>
                      <a:rPr lang="fr-FR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2000" i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latin typeface="+mn-lt"/>
                  </a:rPr>
                  <a:t>par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fr-FR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fr-FR" sz="2000" dirty="0">
                    <a:solidFill>
                      <a:srgbClr val="FF3300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latin typeface="+mn-lt"/>
                  </a:rPr>
                  <a:t>peut se décomposer en :</a:t>
                </a:r>
                <a:endParaRPr lang="fr-FR" sz="2000" dirty="0">
                  <a:latin typeface="+mn-lt"/>
                </a:endParaRPr>
              </a:p>
              <a:p>
                <a:endParaRPr lang="fr-FR" sz="2000" dirty="0">
                  <a:latin typeface="+mn-lt"/>
                </a:endParaRPr>
              </a:p>
              <a:p>
                <a:endParaRPr lang="fr-FR" sz="2000" dirty="0"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chemeClr val="accent2"/>
                    </a:solidFill>
                    <a:latin typeface="+mn-lt"/>
                  </a:rPr>
                  <a:t> Un retournement:    </a:t>
                </a:r>
                <a:endParaRPr lang="fr-FR" sz="2200" dirty="0">
                  <a:solidFill>
                    <a:schemeClr val="accent2"/>
                  </a:solidFill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fr-FR" sz="2200" dirty="0"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chemeClr val="accent2"/>
                    </a:solidFill>
                    <a:latin typeface="+mn-lt"/>
                  </a:rPr>
                  <a:t> Une translation de +t:</a:t>
                </a:r>
                <a:endParaRPr lang="fr-FR" sz="2200" i="1" dirty="0">
                  <a:solidFill>
                    <a:schemeClr val="accent2"/>
                  </a:solidFill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fr-FR" sz="2200" dirty="0"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chemeClr val="accent2"/>
                    </a:solidFill>
                    <a:latin typeface="+mn-lt"/>
                  </a:rPr>
                  <a:t> Une multiplication</a:t>
                </a:r>
                <a:r>
                  <a:rPr lang="fr-FR" sz="2200" dirty="0">
                    <a:latin typeface="+mn-lt"/>
                  </a:rPr>
                  <a:t>:</a:t>
                </a:r>
                <a:endParaRPr lang="fr-FR" sz="2200" dirty="0">
                  <a:latin typeface="+mn-lt"/>
                </a:endParaRPr>
              </a:p>
              <a:p>
                <a:pPr lvl="1"/>
                <a:endParaRPr lang="fr-FR" sz="2200" dirty="0">
                  <a:latin typeface="+mn-lt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chemeClr val="accent2"/>
                    </a:solidFill>
                    <a:latin typeface="+mn-lt"/>
                  </a:rPr>
                  <a:t> Une intégration: </a:t>
                </a:r>
                <a:endParaRPr lang="fr-FR" sz="2200" i="1" dirty="0">
                  <a:latin typeface="+mn-lt"/>
                </a:endParaRPr>
              </a:p>
              <a:p>
                <a:pPr lvl="1"/>
                <a:endParaRPr lang="fr-FR" sz="2600" dirty="0">
                  <a:latin typeface="+mn-lt"/>
                </a:endParaRPr>
              </a:p>
              <a:p>
                <a:pPr lvl="1"/>
                <a:endParaRPr lang="fr-FR" sz="2600" dirty="0">
                  <a:latin typeface="+mn-lt"/>
                </a:endParaRPr>
              </a:p>
              <a:p>
                <a:pPr marL="0" lvl="1"/>
                <a:r>
                  <a:rPr lang="fr-FR" sz="2000" u="sng" dirty="0">
                    <a:latin typeface="+mn-lt"/>
                  </a:rPr>
                  <a:t>Illustration:</a:t>
                </a:r>
                <a:r>
                  <a:rPr lang="fr-FR" sz="2600" dirty="0">
                    <a:latin typeface="+mn-lt"/>
                  </a:rPr>
                  <a:t> </a:t>
                </a:r>
                <a:r>
                  <a:rPr lang="fr-FR" sz="2000" dirty="0">
                    <a:solidFill>
                      <a:schemeClr val="accent1">
                        <a:lumMod val="50000"/>
                      </a:schemeClr>
                    </a:solidFill>
                    <a:latin typeface="+mn-lt"/>
                  </a:rPr>
                  <a:t>https://vincmazet.github.io/spetsi/conv1c.html</a:t>
                </a:r>
                <a:endParaRPr lang="fr-FR" sz="2600" dirty="0">
                  <a:solidFill>
                    <a:schemeClr val="accent1">
                      <a:lumMod val="50000"/>
                    </a:schemeClr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1484784"/>
                <a:ext cx="8568951" cy="4585871"/>
              </a:xfrm>
              <a:prstGeom prst="rect">
                <a:avLst/>
              </a:prstGeom>
              <a:blipFill rotWithShape="1">
                <a:blip r:embed="rId1"/>
                <a:stretch>
                  <a:fillRect l="-4" t="-3" r="7" b="1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1772" y="2403587"/>
            <a:ext cx="2232248" cy="38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3747" y="3817070"/>
            <a:ext cx="1872208" cy="367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22730" y="4467885"/>
            <a:ext cx="3018584" cy="519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747" y="2978276"/>
            <a:ext cx="2876550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7504" y="1124744"/>
            <a:ext cx="8960086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2972"/>
            <a:ext cx="8960085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Produit de convolution : interprétation graphique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-10972"/>
            <a:ext cx="8820472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Produit</a:t>
            </a:r>
            <a:r>
              <a:rPr lang="fr-FR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convolution : Exemple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3528" y="1340768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Calculer le produit de convolution des signaux suivants:</a:t>
            </a:r>
            <a:endParaRPr lang="fr-FR" sz="2200" dirty="0">
              <a:cs typeface="Arial" panose="020B0604020202020204" pitchFamily="34" charset="0"/>
            </a:endParaRPr>
          </a:p>
          <a:p>
            <a:endParaRPr lang="fr-FR" sz="2600" dirty="0">
              <a:latin typeface="+mn-l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61461" y="2476258"/>
            <a:ext cx="6861038" cy="273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555480"/>
            <a:ext cx="8532435" cy="725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4016" y="1020564"/>
            <a:ext cx="8820472" cy="336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016" y="4533100"/>
            <a:ext cx="7308304" cy="195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-10972"/>
            <a:ext cx="8820472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Produit</a:t>
            </a:r>
            <a:r>
              <a:rPr lang="fr-FR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convolution : Exemple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255" y="20172"/>
            <a:ext cx="8351912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Produit de convolution :  Propriétés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179512" y="1052736"/>
                <a:ext cx="8856984" cy="5463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Commutativité </a:t>
                </a:r>
                <a:r>
                  <a:rPr lang="fr-FR" sz="2000" i="1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:        </a:t>
                </a:r>
                <a:endParaRPr lang="fr-FR" sz="2000" i="1" dirty="0">
                  <a:solidFill>
                    <a:srgbClr val="FF0000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fr-FR" sz="20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0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2200" i="1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   </a:t>
                </a: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Associativité :  </a:t>
                </a:r>
                <a:endParaRPr lang="fr-FR" sz="22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200" i="1" dirty="0">
                    <a:ea typeface="Cambria Math" panose="02040503050406030204" pitchFamily="18" charset="0"/>
                    <a:cs typeface="Arial" panose="020B0604020202020204" pitchFamily="34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d>
                          <m:dPr>
                            <m:ctrlPr>
                              <a:rPr lang="fr-FR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  <m:d>
                          <m:dPr>
                            <m:ctrlPr>
                              <a:rPr lang="fr-FR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d>
                      <m:dPr>
                        <m:ctrlP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d>
                      <m:dPr>
                        <m:ctrlP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fr-FR" sz="20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:endParaRPr lang="fr-FR" sz="16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:endParaRPr lang="fr-FR" sz="16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  Distributivité</a:t>
                </a:r>
                <a:r>
                  <a:rPr lang="fr-FR" sz="2200" dirty="0">
                    <a:solidFill>
                      <a:srgbClr val="002060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cs typeface="Arial" panose="020B0604020202020204" pitchFamily="34" charset="0"/>
                  </a:rPr>
                  <a:t>par rapport à l’addition </a:t>
                </a:r>
                <a:r>
                  <a:rPr lang="fr-FR" dirty="0">
                    <a:cs typeface="Arial" panose="020B0604020202020204" pitchFamily="34" charset="0"/>
                  </a:rPr>
                  <a:t>: </a:t>
                </a:r>
                <a:endParaRPr lang="fr-FR" dirty="0">
                  <a:cs typeface="Arial" panose="020B0604020202020204" pitchFamily="34" charset="0"/>
                </a:endParaRPr>
              </a:p>
              <a:p>
                <a:pPr marL="26543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fr-FR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200" dirty="0">
                    <a:cs typeface="Arial" panose="020B0604020202020204" pitchFamily="34" charset="0"/>
                  </a:rPr>
                  <a:t>                          </a:t>
                </a:r>
                <a:endParaRPr lang="fr-FR" sz="2200" dirty="0">
                  <a:cs typeface="Arial" panose="020B0604020202020204" pitchFamily="34" charset="0"/>
                </a:endParaRPr>
              </a:p>
              <a:p>
                <a:pPr indent="265430">
                  <a:buClr>
                    <a:srgbClr val="FF3300"/>
                  </a:buClr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rgbClr val="00B050"/>
                    </a:solidFill>
                    <a:cs typeface="Arial" panose="020B0604020202020204" pitchFamily="34" charset="0"/>
                  </a:rPr>
                  <a:t> </a:t>
                </a: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Elément neutre </a:t>
                </a:r>
                <a:r>
                  <a:rPr lang="fr-FR" sz="2000" dirty="0">
                    <a:cs typeface="Arial" panose="020B0604020202020204" pitchFamily="34" charset="0"/>
                  </a:rPr>
                  <a:t>du produit de convolution</a:t>
                </a:r>
                <a:r>
                  <a:rPr lang="fr-FR" sz="2200" dirty="0">
                    <a:cs typeface="Arial" panose="020B0604020202020204" pitchFamily="34" charset="0"/>
                  </a:rPr>
                  <a:t>: </a:t>
                </a: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impulsion de Dirac</a:t>
                </a:r>
                <a:endParaRPr lang="fr-FR" sz="22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Clr>
                    <a:srgbClr val="FF3300"/>
                  </a:buClr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                                         </a:t>
                </a:r>
                <a:r>
                  <a:rPr lang="fr-FR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fr-FR" sz="22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:endParaRPr lang="fr-FR" sz="2200" i="1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 Translation temporelle </a:t>
                </a:r>
                <a:r>
                  <a:rPr lang="fr-FR" sz="2000" dirty="0">
                    <a:cs typeface="Arial" panose="020B0604020202020204" pitchFamily="34" charset="0"/>
                  </a:rPr>
                  <a:t>(convolution avec un Dirac retardé )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000" dirty="0">
                    <a:solidFill>
                      <a:srgbClr val="0000FF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                                 </a:t>
                </a:r>
                <a:endParaRPr lang="fr-FR" sz="2000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fr-FR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d>
                        <m:dPr>
                          <m:ctrlPr>
                            <a:rPr lang="fr-FR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fr-FR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2000" dirty="0">
                  <a:solidFill>
                    <a:srgbClr val="0000FF"/>
                  </a:solidFill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5463034"/>
              </a:xfrm>
              <a:prstGeom prst="rect">
                <a:avLst/>
              </a:prstGeom>
              <a:blipFill rotWithShape="1">
                <a:blip r:embed="rId1"/>
                <a:stretch>
                  <a:fillRect l="-5" t="-10" r="5" b="1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107504" y="1196752"/>
                <a:ext cx="9036496" cy="453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Convolution avec un peigne de Dirac</a:t>
                </a:r>
                <a:r>
                  <a:rPr lang="fr-FR" sz="26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:</a:t>
                </a:r>
                <a:endParaRPr lang="fr-FR" sz="26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marL="265430"/>
                <a:endParaRPr lang="fr-FR" sz="2000" u="sng" dirty="0">
                  <a:latin typeface="+mj-lt"/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000" u="sng" dirty="0">
                    <a:latin typeface="+mj-lt"/>
                    <a:cs typeface="Arial" panose="020B0604020202020204" pitchFamily="34" charset="0"/>
                  </a:rPr>
                  <a:t>Peigne de </a:t>
                </a:r>
                <a:r>
                  <a:rPr lang="fr-FR" sz="2000" u="sng" dirty="0" err="1">
                    <a:latin typeface="+mj-lt"/>
                    <a:cs typeface="Arial" panose="020B0604020202020204" pitchFamily="34" charset="0"/>
                  </a:rPr>
                  <a:t>Dirarc</a:t>
                </a:r>
                <a:r>
                  <a:rPr lang="fr-FR" sz="2000" u="sng" dirty="0">
                    <a:latin typeface="+mj-lt"/>
                    <a:cs typeface="Arial" panose="020B0604020202020204" pitchFamily="34" charset="0"/>
                  </a:rPr>
                  <a:t>:</a:t>
                </a:r>
                <a:r>
                  <a:rPr lang="fr-FR" sz="2000" dirty="0">
                    <a:latin typeface="+mj-lt"/>
                    <a:cs typeface="Arial" panose="020B0604020202020204" pitchFamily="34" charset="0"/>
                  </a:rPr>
                  <a:t>          </a:t>
                </a:r>
                <a:r>
                  <a:rPr lang="fr-FR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z-Cyrl-AZ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az-Cyrl-AZ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Ш</m:t>
                        </m:r>
                      </m:e>
                      <m:sub>
                        <m:r>
                          <a:rPr lang="fr-F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=−∞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𝑘𝑇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fr-FR" sz="2600" dirty="0">
                  <a:cs typeface="Arial" panose="020B0604020202020204" pitchFamily="34" charset="0"/>
                </a:endParaRPr>
              </a:p>
              <a:p>
                <a:pPr marL="265430">
                  <a:buFont typeface="Arial" panose="020B0604020202020204" pitchFamily="34" charset="0"/>
                  <a:buChar char="•"/>
                </a:pPr>
                <a:endParaRPr lang="fr-FR" sz="2000" dirty="0">
                  <a:cs typeface="Arial" panose="020B0604020202020204" pitchFamily="34" charset="0"/>
                </a:endParaRPr>
              </a:p>
              <a:p>
                <a:pPr marL="265430"/>
                <a:endParaRPr lang="fr-FR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)∗</m:t>
                    </m:r>
                  </m:oMath>
                </a14:m>
                <a:r>
                  <a:rPr lang="az-Cyrl-AZ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z-Cyrl-AZ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az-Cyrl-AZ" sz="2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Ш</m:t>
                        </m:r>
                      </m:e>
                      <m:sub>
                        <m:r>
                          <a:rPr lang="fr-FR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fr-FR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=−∞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)∗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𝑘𝑇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fr-FR" sz="2000" dirty="0">
                    <a:cs typeface="Arial" panose="020B0604020202020204" pitchFamily="34" charset="0"/>
                  </a:rPr>
                  <a:t>  </a:t>
                </a:r>
                <a:r>
                  <a:rPr lang="fr-FR" sz="1600" dirty="0">
                    <a:solidFill>
                      <a:srgbClr val="424CAC"/>
                    </a:solidFill>
                    <a:cs typeface="Arial" panose="020B0604020202020204" pitchFamily="34" charset="0"/>
                  </a:rPr>
                  <a:t>(Linéarité de la convolution: on sort la somme)</a:t>
                </a:r>
                <a:endParaRPr lang="fr-FR" sz="2000" dirty="0">
                  <a:solidFill>
                    <a:srgbClr val="424CAC"/>
                  </a:solidFill>
                  <a:cs typeface="Arial" panose="020B0604020202020204" pitchFamily="34" charset="0"/>
                </a:endParaRPr>
              </a:p>
              <a:p>
                <a:pPr marL="265430"/>
                <a:endParaRPr lang="fr-FR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0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  </a:t>
                </a:r>
                <a:endParaRPr lang="fr-FR" sz="21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65430"/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</m:oMath>
                </a14:m>
                <a:r>
                  <a:rPr lang="fr-FR" sz="2200" dirty="0">
                    <a:solidFill>
                      <a:srgbClr val="FF3300"/>
                    </a:solidFill>
                    <a:cs typeface="Arial" panose="020B060402020202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fr-FR" sz="22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fr-FR" sz="22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2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20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)∗</m:t>
                    </m:r>
                    <m:r>
                      <m:rPr>
                        <m:nor/>
                      </m:rPr>
                      <a:rPr lang="az-Cyrl-AZ" sz="2200" dirty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az-Cyrl-AZ" sz="2200" i="1" dirty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az-Cyrl-AZ" sz="2200" dirty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Ш</m:t>
                        </m:r>
                      </m:e>
                      <m:sub>
                        <m:r>
                          <a:rPr lang="fr-FR" sz="2200" i="1" dirty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200" i="1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fr-FR" sz="2200" dirty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=−∞</m:t>
                        </m:r>
                      </m:sub>
                      <m:sup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𝑘𝑇</m:t>
                        </m:r>
                        <m:r>
                          <a:rPr lang="fr-FR" sz="2200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fr-FR" sz="2100" dirty="0">
                    <a:cs typeface="Arial" panose="020B0604020202020204" pitchFamily="34" charset="0"/>
                  </a:rPr>
                  <a:t>  </a:t>
                </a:r>
                <a:r>
                  <a:rPr lang="fr-FR" sz="1600" dirty="0">
                    <a:solidFill>
                      <a:srgbClr val="424CAC"/>
                    </a:solidFill>
                    <a:cs typeface="Arial" panose="020B0604020202020204" pitchFamily="34" charset="0"/>
                  </a:rPr>
                  <a:t>(Convolution avec un Dirac retardé)</a:t>
                </a:r>
                <a:endParaRPr lang="fr-FR" sz="2400" dirty="0">
                  <a:solidFill>
                    <a:srgbClr val="424CAC"/>
                  </a:solidFill>
                  <a:cs typeface="Arial" panose="020B0604020202020204" pitchFamily="34" charset="0"/>
                </a:endParaRPr>
              </a:p>
              <a:p>
                <a:pPr marL="265430"/>
                <a:endParaRPr lang="fr-FR" sz="2600" dirty="0">
                  <a:cs typeface="Arial" panose="020B0604020202020204" pitchFamily="34" charset="0"/>
                </a:endParaRPr>
              </a:p>
              <a:p>
                <a:pPr marL="84455"/>
                <a:r>
                  <a:rPr lang="fr-FR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 </m:t>
                    </m:r>
                  </m:oMath>
                </a14:m>
                <a:r>
                  <a:rPr lang="fr-FR" sz="2000" dirty="0">
                    <a:cs typeface="Arial" panose="020B0604020202020204" pitchFamily="34" charset="0"/>
                  </a:rPr>
                  <a:t>On obtient une </a:t>
                </a:r>
                <a:r>
                  <a:rPr lang="fr-FR" sz="2000" dirty="0">
                    <a:solidFill>
                      <a:srgbClr val="424CAC"/>
                    </a:solidFill>
                    <a:cs typeface="Arial" panose="020B0604020202020204" pitchFamily="34" charset="0"/>
                  </a:rPr>
                  <a:t>fonction périodique </a:t>
                </a:r>
                <a:r>
                  <a:rPr lang="fr-FR" sz="2000" dirty="0">
                    <a:cs typeface="Arial" panose="020B0604020202020204" pitchFamily="34" charset="0"/>
                  </a:rPr>
                  <a:t>formée d’une recopie de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000" dirty="0">
                    <a:cs typeface="Arial" panose="020B0604020202020204" pitchFamily="34" charset="0"/>
                  </a:rPr>
                  <a:t>autour de  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marL="265430"/>
                <a:r>
                  <a:rPr lang="fr-FR" sz="2000" dirty="0">
                    <a:cs typeface="Arial" panose="020B0604020202020204" pitchFamily="34" charset="0"/>
                  </a:rPr>
                  <a:t>     chaque dent.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marL="265430">
                  <a:buFont typeface="Arial" panose="020B0604020202020204" pitchFamily="34" charset="0"/>
                  <a:buChar char="•"/>
                </a:pPr>
                <a:endParaRPr lang="fr-FR" sz="2400" i="1" dirty="0">
                  <a:solidFill>
                    <a:srgbClr val="0000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196752"/>
                <a:ext cx="9036496" cy="4532716"/>
              </a:xfrm>
              <a:prstGeom prst="rect">
                <a:avLst/>
              </a:prstGeom>
              <a:blipFill rotWithShape="1">
                <a:blip r:embed="rId1"/>
                <a:stretch>
                  <a:fillRect l="-2" t="-9" b="-311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893027" y="6346680"/>
            <a:ext cx="2133600" cy="476250"/>
          </a:xfrm>
        </p:spPr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255" y="20172"/>
            <a:ext cx="8351912" cy="719137"/>
          </a:xfrm>
        </p:spPr>
        <p:txBody>
          <a:bodyPr>
            <a:normAutofit/>
          </a:bodyPr>
          <a:lstStyle/>
          <a:p>
            <a:pPr algn="l"/>
            <a:r>
              <a:rPr lang="fr-F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Produit de convolution :  Propriétés</a:t>
            </a:r>
            <a:endParaRPr lang="fr-FR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9" y="5332060"/>
            <a:ext cx="8919123" cy="139631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1" y="17336"/>
            <a:ext cx="905753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000" dirty="0">
                <a:solidFill>
                  <a:srgbClr val="0000FF"/>
                </a:solidFill>
              </a:rPr>
              <a:t>Réponse d’un système LTI à une entrée quelconque</a:t>
            </a:r>
            <a:endParaRPr lang="fr-FR" sz="30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93232" y="1052736"/>
            <a:ext cx="8624278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3300"/>
              </a:buClr>
              <a:buSzPct val="80000"/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FF3300"/>
                </a:solidFill>
                <a:latin typeface="+mn-lt"/>
              </a:rPr>
              <a:t>Application de la notion de convolution</a:t>
            </a:r>
            <a:endParaRPr lang="fr-FR" sz="2400" dirty="0">
              <a:solidFill>
                <a:srgbClr val="FF33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200" dirty="0">
              <a:solidFill>
                <a:srgbClr val="FF0000"/>
              </a:solidFill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361950" lvl="1" indent="-361950" algn="just"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</a:pPr>
            <a:endParaRPr lang="fr-FR" sz="1900" dirty="0">
              <a:latin typeface="+mn-lt"/>
            </a:endParaRPr>
          </a:p>
          <a:p>
            <a:pPr marL="0"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solidFill>
                  <a:srgbClr val="FF0000"/>
                </a:solidFill>
                <a:latin typeface="+mn-lt"/>
              </a:rPr>
              <a:t>. </a:t>
            </a:r>
            <a:endParaRPr lang="fr-FR" sz="21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1916832"/>
            <a:ext cx="5904656" cy="158650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170589"/>
            <a:ext cx="4379776" cy="14073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1" y="17336"/>
            <a:ext cx="905753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000" dirty="0">
                <a:solidFill>
                  <a:srgbClr val="0000FF"/>
                </a:solidFill>
              </a:rPr>
              <a:t>Réponse d’un système LTI à une entrée quelconque</a:t>
            </a:r>
            <a:endParaRPr lang="fr-FR" sz="30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293232" y="1052736"/>
                <a:ext cx="8624278" cy="5693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 algn="just">
                  <a:buClr>
                    <a:srgbClr val="FF3300"/>
                  </a:buClr>
                  <a:buSzPct val="80000"/>
                  <a:buFont typeface="Wingdings" panose="05000000000000000000" pitchFamily="2" charset="2"/>
                  <a:buChar char="q"/>
                </a:pPr>
                <a:r>
                  <a:rPr lang="fr-FR" sz="2400" dirty="0">
                    <a:solidFill>
                      <a:srgbClr val="FF3300"/>
                    </a:solidFill>
                    <a:latin typeface="+mn-lt"/>
                  </a:rPr>
                  <a:t>Application de la notion de convolution</a:t>
                </a:r>
                <a:endParaRPr lang="fr-FR" sz="2400" dirty="0">
                  <a:solidFill>
                    <a:srgbClr val="FF3300"/>
                  </a:solidFill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2200" dirty="0">
                  <a:solidFill>
                    <a:srgbClr val="FF0000"/>
                  </a:solidFill>
                  <a:latin typeface="+mn-lt"/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/>
                </a:pPr>
                <a:r>
                  <a:rPr lang="fr-FR" sz="1900" dirty="0">
                    <a:solidFill>
                      <a:srgbClr val="002060"/>
                    </a:solidFill>
                    <a:latin typeface="+mn-lt"/>
                  </a:rPr>
                  <a:t>Elément neutre  </a:t>
                </a:r>
                <a:r>
                  <a:rPr lang="fr-FR" sz="1900" dirty="0">
                    <a:solidFill>
                      <a:srgbClr val="002060"/>
                    </a:solidFill>
                  </a:rPr>
                  <a:t>de la convolution</a:t>
                </a:r>
                <a:endParaRPr lang="fr-FR" sz="1900" dirty="0">
                  <a:solidFill>
                    <a:srgbClr val="002060"/>
                  </a:solidFill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/>
                </a:pPr>
                <a:endParaRPr lang="fr-FR" sz="1900" dirty="0">
                  <a:solidFill>
                    <a:srgbClr val="002060"/>
                  </a:solidFill>
                  <a:latin typeface="+mn-lt"/>
                </a:endParaRPr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>
                    <a:solidFill>
                      <a:srgbClr val="002060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fr-FR" sz="1900" dirty="0">
                  <a:latin typeface="+mn-lt"/>
                </a:endParaRPr>
              </a:p>
              <a:p>
                <a:pPr marL="361950" lvl="1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Ø"/>
                </a:pPr>
                <a:endParaRPr lang="fr-FR" sz="1900" dirty="0">
                  <a:latin typeface="+mn-lt"/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 startAt="2"/>
                </a:pPr>
                <a:r>
                  <a:rPr lang="fr-FR" sz="1900" b="0" dirty="0"/>
                  <a:t>Calculer la sortie de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sz="2000" b="0" dirty="0"/>
                  <a:t> 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fr-FR" sz="2000" b="0" dirty="0">
                  <a:latin typeface="+mn-lt"/>
                </a:endParaRPr>
              </a:p>
              <a:p>
                <a:pPr marL="0" lvl="1" algn="just">
                  <a:lnSpc>
                    <a:spcPct val="15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2000" b="0" dirty="0"/>
                  <a:t>                        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fr-FR" sz="2000" b="0" i="1" smtClean="0">
                        <a:solidFill>
                          <a:srgbClr val="00A249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00A24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00A24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00A24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00A249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solidFill>
                              <a:srgbClr val="00A24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fr-FR" sz="2000" b="0" i="1" smtClean="0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d>
                              <m:dPr>
                                <m:ctrlP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000" i="1">
                                    <a:solidFill>
                                      <a:srgbClr val="00A24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2000" i="1">
                                <a:solidFill>
                                  <a:srgbClr val="00A24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e>
                    </m:d>
                  </m:oMath>
                </a14:m>
                <a:endParaRPr lang="fr-FR" sz="1900" b="0" dirty="0">
                  <a:latin typeface="+mn-lt"/>
                </a:endParaRPr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1900" b="0" dirty="0">
                  <a:latin typeface="+mn-lt"/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 startAt="3"/>
                </a:pPr>
                <a:r>
                  <a:rPr lang="fr-FR" sz="1900" dirty="0">
                    <a:solidFill>
                      <a:srgbClr val="002060"/>
                    </a:solidFill>
                  </a:rPr>
                  <a:t>Propriété de linéarité du système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fr-FR" sz="1900" b="0" dirty="0">
                  <a:latin typeface="+mn-lt"/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 startAt="3"/>
                </a:pPr>
                <a:endParaRPr lang="fr-FR" sz="1900" dirty="0">
                  <a:latin typeface="+mn-lt"/>
                </a:endParaRPr>
              </a:p>
              <a:p>
                <a:pPr lvl="1" indent="-45720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+mj-lt"/>
                  <a:buAutoNum type="arabicPeriod" startAt="3"/>
                </a:pPr>
                <a:r>
                  <a:rPr lang="fr-FR" sz="1900" dirty="0">
                    <a:solidFill>
                      <a:srgbClr val="002060"/>
                    </a:solidFill>
                    <a:latin typeface="+mn-lt"/>
                  </a:rPr>
                  <a:t>Propriété d’invariance temporelle du système</a:t>
                </a:r>
                <a:r>
                  <a:rPr lang="fr-FR" sz="1900" dirty="0">
                    <a:latin typeface="+mn-lt"/>
                  </a:rPr>
                  <a:t>:</a:t>
                </a:r>
                <a:endParaRPr lang="fr-FR" sz="1900" dirty="0">
                  <a:latin typeface="+mn-lt"/>
                </a:endParaRPr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>
                    <a:latin typeface="+mn-lt"/>
                  </a:rPr>
                  <a:t>                                   </a:t>
                </a:r>
                <a:endParaRPr lang="fr-FR" sz="1900" dirty="0">
                  <a:latin typeface="+mn-lt"/>
                </a:endParaRPr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>
                    <a:latin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000" dirty="0">
                  <a:latin typeface="+mn-lt"/>
                </a:endParaRPr>
              </a:p>
              <a:p>
                <a:pPr marL="0" lvl="1" algn="just">
                  <a:lnSpc>
                    <a:spcPct val="15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>
                    <a:solidFill>
                      <a:srgbClr val="002060"/>
                    </a:solidFill>
                    <a:latin typeface="+mn-lt"/>
                  </a:rPr>
                  <a:t>                                                     Réponse impulsionnelle décalée </a:t>
                </a:r>
                <a:endParaRPr lang="fr-FR" sz="1900" dirty="0">
                  <a:solidFill>
                    <a:srgbClr val="002060"/>
                  </a:solidFill>
                  <a:latin typeface="+mn-lt"/>
                </a:endParaRPr>
              </a:p>
              <a:p>
                <a:pPr marL="361950" lvl="1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Ø"/>
                </a:pPr>
                <a:endParaRPr lang="fr-FR" sz="1900" dirty="0">
                  <a:latin typeface="+mn-lt"/>
                </a:endParaRPr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32" y="1052736"/>
                <a:ext cx="8624278" cy="5693738"/>
              </a:xfrm>
              <a:prstGeom prst="rect">
                <a:avLst/>
              </a:prstGeom>
              <a:blipFill rotWithShape="1">
                <a:blip r:embed="rId1"/>
                <a:stretch>
                  <a:fillRect l="-6" t="-10" r="2" b="4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1" y="17336"/>
            <a:ext cx="905753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000" dirty="0">
                <a:solidFill>
                  <a:srgbClr val="0000FF"/>
                </a:solidFill>
              </a:rPr>
              <a:t>Réponse d’un système LTI à une entrée quelconque</a:t>
            </a:r>
            <a:endParaRPr lang="fr-FR" sz="30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542329" y="1340768"/>
                <a:ext cx="8624278" cy="1241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>
                    <a:solidFill>
                      <a:srgbClr val="002060"/>
                    </a:solidFill>
                  </a:rPr>
                  <a:t>On en </a:t>
                </a:r>
                <a:r>
                  <a:rPr lang="fr-FR" sz="2000" dirty="0">
                    <a:solidFill>
                      <a:srgbClr val="002060"/>
                    </a:solidFill>
                  </a:rPr>
                  <a:t>déduit</a:t>
                </a:r>
                <a:r>
                  <a:rPr lang="fr-FR" sz="22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</m:t>
                        </m:r>
                      </m:e>
                    </m:nary>
                  </m:oMath>
                </a14:m>
                <a:endParaRPr lang="fr-FR" sz="2200" dirty="0">
                  <a:ea typeface="Cambria Math" panose="02040503050406030204" pitchFamily="18" charset="0"/>
                </a:endParaRPr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1900" dirty="0"/>
              </a:p>
              <a:p>
                <a:pPr marL="0" lvl="1"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r>
                  <a:rPr lang="fr-FR" sz="1900" dirty="0"/>
                  <a:t>       </a:t>
                </a:r>
                <a14:m>
                  <m:oMath xmlns:m="http://schemas.openxmlformats.org/officeDocument/2006/math">
                    <m:r>
                      <a:rPr lang="fr-FR" sz="19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fr-FR" sz="1900" dirty="0"/>
                  <a:t>                         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)∗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100" dirty="0"/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29" y="1340768"/>
                <a:ext cx="8624278" cy="1241622"/>
              </a:xfrm>
              <a:prstGeom prst="rect">
                <a:avLst/>
              </a:prstGeom>
              <a:blipFill rotWithShape="1">
                <a:blip r:embed="rId1"/>
                <a:stretch>
                  <a:fillRect t="-23" r="4" b="39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250002" y="4337153"/>
            <a:ext cx="85575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solidFill>
                  <a:srgbClr val="343C88"/>
                </a:solidFill>
              </a:rPr>
              <a:t>La </a:t>
            </a:r>
            <a:r>
              <a:rPr lang="fr-FR" sz="2000" b="1" dirty="0">
                <a:solidFill>
                  <a:srgbClr val="343C88"/>
                </a:solidFill>
              </a:rPr>
              <a:t>réponse du système LTI </a:t>
            </a:r>
            <a:r>
              <a:rPr lang="fr-FR" sz="2000" dirty="0">
                <a:solidFill>
                  <a:srgbClr val="343C88"/>
                </a:solidFill>
              </a:rPr>
              <a:t>à une entrée quelconque </a:t>
            </a:r>
            <a:r>
              <a:rPr lang="fr-FR" sz="2000" i="1" dirty="0">
                <a:solidFill>
                  <a:srgbClr val="343C88"/>
                </a:solidFill>
              </a:rPr>
              <a:t>x</a:t>
            </a:r>
            <a:r>
              <a:rPr lang="fr-FR" sz="2000" dirty="0">
                <a:solidFill>
                  <a:srgbClr val="343C88"/>
                </a:solidFill>
              </a:rPr>
              <a:t> est la</a:t>
            </a:r>
            <a:r>
              <a:rPr lang="fr-FR" sz="2000" b="1" dirty="0">
                <a:solidFill>
                  <a:srgbClr val="343C88"/>
                </a:solidFill>
              </a:rPr>
              <a:t> convolution </a:t>
            </a:r>
            <a:r>
              <a:rPr lang="fr-FR" sz="2000" dirty="0">
                <a:solidFill>
                  <a:srgbClr val="343C88"/>
                </a:solidFill>
              </a:rPr>
              <a:t>de </a:t>
            </a:r>
            <a:r>
              <a:rPr lang="fr-FR" sz="2000" i="1" dirty="0">
                <a:solidFill>
                  <a:srgbClr val="343C88"/>
                </a:solidFill>
              </a:rPr>
              <a:t>x</a:t>
            </a:r>
            <a:r>
              <a:rPr lang="fr-FR" sz="2000" dirty="0">
                <a:solidFill>
                  <a:srgbClr val="343C88"/>
                </a:solidFill>
              </a:rPr>
              <a:t> avec la </a:t>
            </a:r>
            <a:r>
              <a:rPr lang="fr-FR" sz="2000" b="1" dirty="0">
                <a:solidFill>
                  <a:srgbClr val="343C88"/>
                </a:solidFill>
              </a:rPr>
              <a:t>réponse impulsionnelle </a:t>
            </a:r>
            <a:r>
              <a:rPr lang="fr-FR" sz="2000" i="1" dirty="0">
                <a:solidFill>
                  <a:srgbClr val="343C88"/>
                </a:solidFill>
              </a:rPr>
              <a:t>h</a:t>
            </a:r>
            <a:r>
              <a:rPr lang="fr-FR" sz="2000" dirty="0">
                <a:solidFill>
                  <a:srgbClr val="343C88"/>
                </a:solidFill>
              </a:rPr>
              <a:t> du système</a:t>
            </a:r>
            <a:r>
              <a:rPr lang="fr-FR" sz="2000" dirty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fr-FR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000" dirty="0">
              <a:solidFill>
                <a:srgbClr val="FF0000"/>
              </a:solidFill>
            </a:endParaRPr>
          </a:p>
          <a:p>
            <a:pPr marL="0" lvl="1"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000" dirty="0">
              <a:solidFill>
                <a:srgbClr val="FF0000"/>
              </a:solidFill>
            </a:endParaRPr>
          </a:p>
          <a:p>
            <a:pPr marL="0" lvl="1" algn="just">
              <a:buClr>
                <a:schemeClr val="accent6">
                  <a:lumMod val="75000"/>
                </a:schemeClr>
              </a:buClr>
              <a:buSzPct val="80000"/>
            </a:pPr>
            <a:r>
              <a:rPr lang="fr-FR" sz="2000" dirty="0">
                <a:solidFill>
                  <a:srgbClr val="FF0000"/>
                </a:solidFill>
              </a:rPr>
              <a:t>       </a:t>
            </a:r>
            <a:r>
              <a:rPr lang="fr-FR" sz="2000" dirty="0"/>
              <a:t>⇒ La </a:t>
            </a:r>
            <a:r>
              <a:rPr lang="fr-FR" sz="2000" dirty="0">
                <a:solidFill>
                  <a:srgbClr val="FF0000"/>
                </a:solidFill>
              </a:rPr>
              <a:t>réponse impulsionnelle </a:t>
            </a:r>
            <a:r>
              <a:rPr lang="fr-FR" sz="2000" i="1" dirty="0">
                <a:solidFill>
                  <a:srgbClr val="FF0000"/>
                </a:solidFill>
              </a:rPr>
              <a:t>h</a:t>
            </a:r>
            <a:r>
              <a:rPr lang="fr-FR" sz="2000" dirty="0"/>
              <a:t> </a:t>
            </a:r>
            <a:r>
              <a:rPr lang="fr-FR" sz="2000" dirty="0">
                <a:solidFill>
                  <a:srgbClr val="FF0000"/>
                </a:solidFill>
              </a:rPr>
              <a:t>caractérise entièrement </a:t>
            </a:r>
            <a:r>
              <a:rPr lang="fr-FR" sz="2000" dirty="0"/>
              <a:t>le système. 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828925"/>
            <a:ext cx="691515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Stabilité et réponse impulsionnelle</a:t>
            </a:r>
            <a:endParaRPr lang="fr-FR" sz="32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233050" y="1174373"/>
                <a:ext cx="8624278" cy="6524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r>
                  <a:rPr lang="fr-FR" sz="2000" dirty="0">
                    <a:solidFill>
                      <a:srgbClr val="FF0000"/>
                    </a:solidFill>
                    <a:latin typeface="+mn-lt"/>
                  </a:rPr>
                  <a:t>un système est stable si sa sortie est bornée lorsque son entrée est bornée</a:t>
                </a:r>
                <a:endParaRPr lang="fr-FR" sz="2000" dirty="0">
                  <a:solidFill>
                    <a:srgbClr val="FF0000"/>
                  </a:solidFill>
                  <a:latin typeface="+mn-lt"/>
                </a:endParaRPr>
              </a:p>
              <a:p>
                <a:pPr marL="361950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200" dirty="0">
                  <a:latin typeface="+mn-lt"/>
                </a:endParaRPr>
              </a:p>
              <a:p>
                <a:pPr marL="361950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200" dirty="0">
                  <a:latin typeface="+mn-lt"/>
                </a:endParaRPr>
              </a:p>
              <a:p>
                <a:pPr marL="361950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200" dirty="0">
                  <a:latin typeface="+mn-lt"/>
                </a:endParaRPr>
              </a:p>
              <a:p>
                <a:pPr marL="361950" indent="-361950" algn="just">
                  <a:buClr>
                    <a:schemeClr val="accent6">
                      <a:lumMod val="75000"/>
                    </a:schemeClr>
                  </a:buClr>
                  <a:buSzPct val="80000"/>
                  <a:buFont typeface="Wingdings" panose="05000000000000000000" pitchFamily="2" charset="2"/>
                  <a:buChar char="q"/>
                </a:pPr>
                <a:endParaRPr lang="fr-FR" sz="2600" dirty="0">
                  <a:solidFill>
                    <a:schemeClr val="accent5">
                      <a:lumMod val="75000"/>
                    </a:schemeClr>
                  </a:solidFill>
                  <a:latin typeface="+mn-lt"/>
                </a:endParaRPr>
              </a:p>
              <a:p>
                <a:pPr marL="95250" indent="-95250" defTabSz="361950"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</a:tabLst>
                </a:pPr>
                <a:endParaRPr lang="fr-FR" sz="2000" dirty="0">
                  <a:latin typeface="+mn-lt"/>
                </a:endParaRPr>
              </a:p>
              <a:p>
                <a:pPr marL="95250" indent="-95250" defTabSz="361950"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</a:tabLst>
                </a:pPr>
                <a:r>
                  <a:rPr lang="fr-FR" sz="2000" dirty="0">
                    <a:latin typeface="+mn-lt"/>
                  </a:rPr>
                  <a:t>            </a:t>
                </a:r>
                <a:r>
                  <a:rPr lang="fr-FR" sz="2000" dirty="0">
                    <a:solidFill>
                      <a:schemeClr val="accent2"/>
                    </a:solidFill>
                    <a:latin typeface="+mn-lt"/>
                  </a:rPr>
                  <a:t>Quelle est la condition sur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fr-FR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2000" dirty="0">
                    <a:solidFill>
                      <a:schemeClr val="accent2"/>
                    </a:solidFill>
                    <a:latin typeface="+mn-lt"/>
                  </a:rPr>
                  <a:t>pour que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2000" dirty="0">
                    <a:solidFill>
                      <a:schemeClr val="accent2"/>
                    </a:solidFill>
                    <a:latin typeface="+mn-lt"/>
                  </a:rPr>
                  <a:t>soit bornée ?</a:t>
                </a:r>
                <a:endParaRPr lang="fr-FR" sz="2000" dirty="0">
                  <a:solidFill>
                    <a:schemeClr val="accent2"/>
                  </a:solidFill>
                  <a:latin typeface="+mn-lt"/>
                </a:endParaRP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  <a:tab pos="444500" algn="l"/>
                  </a:tabLst>
                </a:pPr>
                <a:r>
                  <a:rPr lang="fr-FR" sz="2400" dirty="0"/>
                  <a:t>⇒ </a:t>
                </a:r>
                <a:r>
                  <a:rPr lang="fr-FR" sz="2000" dirty="0">
                    <a:solidFill>
                      <a:srgbClr val="FF3300"/>
                    </a:solidFill>
                    <a:latin typeface="+mn-lt"/>
                  </a:rPr>
                  <a:t>Un système est stable </a:t>
                </a:r>
                <a:r>
                  <a:rPr lang="fr-FR" sz="2000" dirty="0" err="1">
                    <a:solidFill>
                      <a:srgbClr val="FF3300"/>
                    </a:solidFill>
                    <a:latin typeface="+mn-lt"/>
                  </a:rPr>
                  <a:t>ssi</a:t>
                </a:r>
                <a:r>
                  <a:rPr lang="fr-FR" sz="2000" dirty="0">
                    <a:solidFill>
                      <a:srgbClr val="FF3300"/>
                    </a:solidFill>
                    <a:latin typeface="+mn-lt"/>
                  </a:rPr>
                  <a:t> sa réponse impulsionnelle est absolument  </a:t>
                </a:r>
                <a:endParaRPr lang="fr-FR" sz="2000" dirty="0">
                  <a:solidFill>
                    <a:srgbClr val="FF3300"/>
                  </a:solidFill>
                  <a:latin typeface="+mn-lt"/>
                </a:endParaRP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  <a:tab pos="444500" algn="l"/>
                  </a:tabLst>
                </a:pPr>
                <a:r>
                  <a:rPr lang="fr-FR" sz="2000" dirty="0">
                    <a:solidFill>
                      <a:srgbClr val="FF3300"/>
                    </a:solidFill>
                    <a:latin typeface="+mn-lt"/>
                  </a:rPr>
                  <a:t>     intégrable: </a:t>
                </a:r>
                <a:endParaRPr lang="fr-FR" sz="2000" dirty="0">
                  <a:solidFill>
                    <a:srgbClr val="FF3300"/>
                  </a:solidFill>
                  <a:latin typeface="+mn-lt"/>
                </a:endParaRP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  <a:tab pos="444500" algn="l"/>
                  </a:tabLst>
                </a:pPr>
                <a:endParaRPr lang="fr-FR" sz="2000" dirty="0">
                  <a:solidFill>
                    <a:srgbClr val="FF3300"/>
                  </a:solidFill>
                  <a:latin typeface="+mn-lt"/>
                </a:endParaRP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  <a:buSzPct val="80000"/>
                  <a:tabLst>
                    <a:tab pos="77470" algn="l"/>
                    <a:tab pos="444500" algn="l"/>
                  </a:tabLst>
                </a:pPr>
                <a:endParaRPr lang="fr-FR" sz="2000" dirty="0">
                  <a:solidFill>
                    <a:srgbClr val="FF3300"/>
                  </a:solidFill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2600" dirty="0">
                  <a:solidFill>
                    <a:schemeClr val="accent5">
                      <a:lumMod val="75000"/>
                    </a:schemeClr>
                  </a:solidFill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2600" dirty="0">
                  <a:solidFill>
                    <a:schemeClr val="accent5">
                      <a:lumMod val="75000"/>
                    </a:schemeClr>
                  </a:solidFill>
                  <a:latin typeface="+mn-lt"/>
                </a:endParaRPr>
              </a:p>
              <a:p>
                <a:pPr algn="just">
                  <a:buClr>
                    <a:schemeClr val="accent6">
                      <a:lumMod val="75000"/>
                    </a:schemeClr>
                  </a:buClr>
                  <a:buSzPct val="80000"/>
                </a:pPr>
                <a:endParaRPr lang="fr-FR" sz="2600" dirty="0">
                  <a:solidFill>
                    <a:schemeClr val="accent5">
                      <a:lumMod val="75000"/>
                    </a:schemeClr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0" y="1174373"/>
                <a:ext cx="8624278" cy="6524863"/>
              </a:xfrm>
              <a:prstGeom prst="rect">
                <a:avLst/>
              </a:prstGeom>
              <a:blipFill rotWithShape="1">
                <a:blip r:embed="rId1"/>
                <a:stretch>
                  <a:fillRect t="-4" r="4" b="8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12" y="2177525"/>
            <a:ext cx="6330301" cy="896326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2771800" y="4867250"/>
                <a:ext cx="2565895" cy="8163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fr-FR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fr-FR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fr-FR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4867250"/>
                <a:ext cx="2565895" cy="816377"/>
              </a:xfrm>
              <a:prstGeom prst="rect">
                <a:avLst/>
              </a:prstGeom>
              <a:blipFill rotWithShape="1">
                <a:blip r:embed="rId3"/>
                <a:stretch>
                  <a:fillRect l="-1" t="-75" r="-178" b="46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/>
          <p:nvPr/>
        </p:nvSpPr>
        <p:spPr>
          <a:xfrm>
            <a:off x="323528" y="17336"/>
            <a:ext cx="784887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fr-FR" sz="3200" dirty="0">
                <a:solidFill>
                  <a:srgbClr val="0000FF"/>
                </a:solidFill>
              </a:rPr>
              <a:t>Causalité et réponse impulsionnelle</a:t>
            </a:r>
            <a:endParaRPr lang="fr-FR" sz="3200" i="1" dirty="0">
              <a:solidFill>
                <a:srgbClr val="0000FF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33050" y="1174373"/>
            <a:ext cx="79393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FF0000"/>
                </a:solidFill>
              </a:rPr>
              <a:t>Un système SLIT est causal si sa réponse impulsionnelle est nulle pour t &lt; 0 :</a:t>
            </a:r>
            <a:endParaRPr lang="fr-FR" sz="2600" dirty="0">
              <a:solidFill>
                <a:srgbClr val="FF0000"/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SzPct val="80000"/>
            </a:pPr>
            <a:endParaRPr lang="fr-FR" sz="2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2294513" y="2461253"/>
                <a:ext cx="381642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,      ∀ </m:t>
                      </m:r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fr-FR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513" y="2461253"/>
                <a:ext cx="3816424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" t="-170" r="9" b="106"/>
                </a:stretch>
              </a:blipFill>
            </p:spPr>
            <p:txBody>
              <a:bodyPr/>
              <a:lstStyle/>
              <a:p>
                <a:r>
                  <a:rPr lang="fr-F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00" y="3790474"/>
            <a:ext cx="5219700" cy="11144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681543"/>
            <a:ext cx="2302788" cy="1223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Lucida Bright"/>
        <a:ea typeface="BatangChe"/>
        <a:cs typeface="Lucida Sans Unicode"/>
      </a:majorFont>
      <a:minorFont>
        <a:latin typeface="Arial Unicode MS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eption personnalisée">
  <a:themeElements>
    <a:clrScheme name="Conception personnalisé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6789</Words>
  <Application>WPS Presentation</Application>
  <PresentationFormat>On-screen Show (4:3)</PresentationFormat>
  <Paragraphs>420</Paragraphs>
  <Slides>33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SimSun</vt:lpstr>
      <vt:lpstr>Wingdings</vt:lpstr>
      <vt:lpstr>Arial Unicode MS</vt:lpstr>
      <vt:lpstr>Lucida Bright</vt:lpstr>
      <vt:lpstr>BatangChe</vt:lpstr>
      <vt:lpstr>Malgun Gothic</vt:lpstr>
      <vt:lpstr>Lucida Sans Unicode</vt:lpstr>
      <vt:lpstr>Cambria Math</vt:lpstr>
      <vt:lpstr>Microsoft YaHei</vt:lpstr>
      <vt:lpstr>Arial Unicode MS</vt:lpstr>
      <vt:lpstr>Arabic Typesetting</vt:lpstr>
      <vt:lpstr>Modèle par défaut</vt:lpstr>
      <vt:lpstr>Conception personnalisée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Produit de convolution</vt:lpstr>
      <vt:lpstr>Produit de convolution : interprétation</vt:lpstr>
      <vt:lpstr>Produit de convolution : interprétation graphique</vt:lpstr>
      <vt:lpstr>Produit de convolution : Exemple</vt:lpstr>
      <vt:lpstr>Produit de convolution : Exemple</vt:lpstr>
      <vt:lpstr>  Produit de convolution :  Propriétés</vt:lpstr>
      <vt:lpstr>  Produit de convolution :  Propriétés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LAMI78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Traitement du Signal</dc:title>
  <dc:creator>Wided</dc:creator>
  <cp:lastModifiedBy>WPS_1775918412</cp:lastModifiedBy>
  <cp:revision>643</cp:revision>
  <cp:lastPrinted>2025-10-10T20:10:00Z</cp:lastPrinted>
  <dcterms:created xsi:type="dcterms:W3CDTF">2011-10-07T07:47:00Z</dcterms:created>
  <dcterms:modified xsi:type="dcterms:W3CDTF">2026-05-29T21:45:49Z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36E54A3A61304BE98447F0DB3D2A158F_12</vt:lpwstr>
  </property>
  <property fmtid="{D5CDD505-2E9C-101B-9397-08002B2CF9AE}" pid="3" name="KSOProductBuildVer">
    <vt:lpwstr>1036-12.1.0.26880</vt:lpwstr>
  </property>
</Properties>
</file>